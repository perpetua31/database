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5143500" cx="9144000"/>
  <p:notesSz cx="6858000" cy="9144000"/>
  <p:embeddedFontLst>
    <p:embeddedFont>
      <p:font typeface="Playfair Display Medium"/>
      <p:regular r:id="rId36"/>
      <p:bold r:id="rId37"/>
      <p:italic r:id="rId38"/>
      <p:boldItalic r:id="rId39"/>
    </p:embeddedFont>
    <p:embeddedFont>
      <p:font typeface="Raleway"/>
      <p:regular r:id="rId40"/>
      <p:bold r:id="rId41"/>
      <p:italic r:id="rId42"/>
      <p:boldItalic r:id="rId43"/>
    </p:embeddedFont>
    <p:embeddedFont>
      <p:font typeface="DM Sans Medium"/>
      <p:regular r:id="rId44"/>
      <p:bold r:id="rId45"/>
      <p:italic r:id="rId46"/>
      <p:boldItalic r:id="rId47"/>
    </p:embeddedFont>
    <p:embeddedFont>
      <p:font typeface="Playfair Display"/>
      <p:regular r:id="rId48"/>
      <p:bold r:id="rId49"/>
      <p:italic r:id="rId50"/>
      <p:boldItalic r:id="rId51"/>
    </p:embeddedFont>
    <p:embeddedFont>
      <p:font typeface="DM Sans"/>
      <p:regular r:id="rId52"/>
      <p:bold r:id="rId53"/>
      <p:italic r:id="rId54"/>
      <p:boldItalic r:id="rId5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aleway-regular.fntdata"/><Relationship Id="rId42" Type="http://schemas.openxmlformats.org/officeDocument/2006/relationships/font" Target="fonts/Raleway-italic.fntdata"/><Relationship Id="rId41" Type="http://schemas.openxmlformats.org/officeDocument/2006/relationships/font" Target="fonts/Raleway-bold.fntdata"/><Relationship Id="rId44" Type="http://schemas.openxmlformats.org/officeDocument/2006/relationships/font" Target="fonts/DMSansMedium-regular.fntdata"/><Relationship Id="rId43" Type="http://schemas.openxmlformats.org/officeDocument/2006/relationships/font" Target="fonts/Raleway-boldItalic.fntdata"/><Relationship Id="rId46" Type="http://schemas.openxmlformats.org/officeDocument/2006/relationships/font" Target="fonts/DMSansMedium-italic.fntdata"/><Relationship Id="rId45" Type="http://schemas.openxmlformats.org/officeDocument/2006/relationships/font" Target="fonts/DMSansMedium-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PlayfairDisplay-regular.fntdata"/><Relationship Id="rId47" Type="http://schemas.openxmlformats.org/officeDocument/2006/relationships/font" Target="fonts/DMSansMedium-boldItalic.fntdata"/><Relationship Id="rId49" Type="http://schemas.openxmlformats.org/officeDocument/2006/relationships/font" Target="fonts/PlayfairDisplay-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font" Target="fonts/PlayfairDisplayMedium-bold.fntdata"/><Relationship Id="rId36" Type="http://schemas.openxmlformats.org/officeDocument/2006/relationships/font" Target="fonts/PlayfairDisplayMedium-regular.fntdata"/><Relationship Id="rId39" Type="http://schemas.openxmlformats.org/officeDocument/2006/relationships/font" Target="fonts/PlayfairDisplayMedium-boldItalic.fntdata"/><Relationship Id="rId38" Type="http://schemas.openxmlformats.org/officeDocument/2006/relationships/font" Target="fonts/PlayfairDisplayMedium-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PlayfairDisplay-boldItalic.fntdata"/><Relationship Id="rId50" Type="http://schemas.openxmlformats.org/officeDocument/2006/relationships/font" Target="fonts/PlayfairDisplay-italic.fntdata"/><Relationship Id="rId53" Type="http://schemas.openxmlformats.org/officeDocument/2006/relationships/font" Target="fonts/DMSans-bold.fntdata"/><Relationship Id="rId52" Type="http://schemas.openxmlformats.org/officeDocument/2006/relationships/font" Target="fonts/DMSans-regular.fntdata"/><Relationship Id="rId11" Type="http://schemas.openxmlformats.org/officeDocument/2006/relationships/slide" Target="slides/slide6.xml"/><Relationship Id="rId55" Type="http://schemas.openxmlformats.org/officeDocument/2006/relationships/font" Target="fonts/DMSans-boldItalic.fntdata"/><Relationship Id="rId10" Type="http://schemas.openxmlformats.org/officeDocument/2006/relationships/slide" Target="slides/slide5.xml"/><Relationship Id="rId54" Type="http://schemas.openxmlformats.org/officeDocument/2006/relationships/font" Target="fonts/DMSans-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c8afb2ad07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c8afb2ad07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c9543fe4d1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c9543fe4d1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c9543fe4d1_1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c9543fe4d1_1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c8afb2ad07_0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c8afb2ad07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c9543fe4d1_1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c9543fe4d1_1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c8afb2ad07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c8afb2ad07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c9543fe4d1_1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c9543fe4d1_1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c8b1a280cc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c8b1a280cc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c9543fe4d1_1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c9543fe4d1_1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bf024128a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bf024128a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c8d50603ad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c8d50603ad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c9543fe4d1_1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3c9543fe4d1_1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bf024128a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3bf024128a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c9543fe4d1_1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c9543fe4d1_1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bf024128ad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3bf024128ad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c8afb2ad07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c8afb2ad07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c9543fe4d1_1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c9543fe4d1_1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c8b1a280c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c8b1a280c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c8b1a280cc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c8b1a280cc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c8afb2ad07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3c8afb2ad07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c8d50603a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3c8d50603a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c8afb2ad07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3c8afb2ad07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c8afb2ad07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3c8afb2ad07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c92dc71472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3c92dc71472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c92dc71472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3c92dc71472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c9543fe4d1_1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3c9543fe4d1_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c9543fe4d1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3c9543fe4d1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c8afb2ad07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3c8afb2ad07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c9543fe4d1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3c9543fe4d1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713225" y="2560825"/>
            <a:ext cx="4595700" cy="1892400"/>
          </a:xfrm>
          <a:prstGeom prst="rect">
            <a:avLst/>
          </a:prstGeom>
        </p:spPr>
        <p:txBody>
          <a:bodyPr anchorCtr="0" anchor="b" bIns="91425" lIns="91425" spcFirstLastPara="1" rIns="91425" wrap="square" tIns="91425">
            <a:noAutofit/>
          </a:bodyPr>
          <a:lstStyle>
            <a:lvl1pPr lvl="0" algn="l">
              <a:spcBef>
                <a:spcPts val="0"/>
              </a:spcBef>
              <a:spcAft>
                <a:spcPts val="0"/>
              </a:spcAft>
              <a:buClr>
                <a:srgbClr val="191919"/>
              </a:buClr>
              <a:buSzPts val="5200"/>
              <a:buNone/>
              <a:defRPr sz="37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0" name="Google Shape;10;p2"/>
          <p:cNvSpPr txBox="1"/>
          <p:nvPr>
            <p:ph idx="1" type="subTitle"/>
          </p:nvPr>
        </p:nvSpPr>
        <p:spPr>
          <a:xfrm>
            <a:off x="713275" y="1007350"/>
            <a:ext cx="2208900" cy="569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sz="14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cxnSp>
        <p:nvCxnSpPr>
          <p:cNvPr id="11" name="Google Shape;11;p2"/>
          <p:cNvCxnSpPr/>
          <p:nvPr/>
        </p:nvCxnSpPr>
        <p:spPr>
          <a:xfrm>
            <a:off x="3167225" y="539500"/>
            <a:ext cx="6072600" cy="0"/>
          </a:xfrm>
          <a:prstGeom prst="straightConnector1">
            <a:avLst/>
          </a:prstGeom>
          <a:noFill/>
          <a:ln cap="flat" cmpd="sng" w="9525">
            <a:solidFill>
              <a:schemeClr val="dk1"/>
            </a:solidFill>
            <a:prstDash val="solid"/>
            <a:round/>
            <a:headEnd len="med" w="med" type="none"/>
            <a:tailEnd len="med" w="med" type="none"/>
          </a:ln>
        </p:spPr>
      </p:cxnSp>
      <p:cxnSp>
        <p:nvCxnSpPr>
          <p:cNvPr id="12" name="Google Shape;12;p2"/>
          <p:cNvCxnSpPr/>
          <p:nvPr/>
        </p:nvCxnSpPr>
        <p:spPr>
          <a:xfrm rot="10800000">
            <a:off x="8430775" y="-28312"/>
            <a:ext cx="0" cy="46323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713225" y="3762200"/>
            <a:ext cx="2822700" cy="841800"/>
          </a:xfrm>
          <a:prstGeom prst="rect">
            <a:avLst/>
          </a:prstGeom>
        </p:spPr>
        <p:txBody>
          <a:bodyPr anchorCtr="0" anchor="ctr" bIns="91425" lIns="91425" spcFirstLastPara="1" rIns="91425" wrap="square" tIns="91425">
            <a:noAutofit/>
          </a:bodyPr>
          <a:lstStyle>
            <a:lvl1pPr lvl="0" algn="l">
              <a:spcBef>
                <a:spcPts val="0"/>
              </a:spcBef>
              <a:spcAft>
                <a:spcPts val="0"/>
              </a:spcAft>
              <a:buSzPts val="3600"/>
              <a:buNone/>
              <a:defRPr sz="42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hasCustomPrompt="1" idx="2" type="title"/>
          </p:nvPr>
        </p:nvSpPr>
        <p:spPr>
          <a:xfrm>
            <a:off x="713225" y="2734600"/>
            <a:ext cx="1288800" cy="841800"/>
          </a:xfrm>
          <a:prstGeom prst="rect">
            <a:avLst/>
          </a:prstGeom>
          <a:noFill/>
        </p:spPr>
        <p:txBody>
          <a:bodyPr anchorCtr="0" anchor="ctr" bIns="91425" lIns="91425" spcFirstLastPara="1" rIns="91425" wrap="square" tIns="91425">
            <a:noAutofit/>
          </a:bodyPr>
          <a:lstStyle>
            <a:lvl1pPr lvl="0" rtl="0" algn="l">
              <a:spcBef>
                <a:spcPts val="0"/>
              </a:spcBef>
              <a:spcAft>
                <a:spcPts val="0"/>
              </a:spcAft>
              <a:buClr>
                <a:schemeClr val="lt1"/>
              </a:buClr>
              <a:buSzPts val="6000"/>
              <a:buNone/>
              <a:defRPr sz="6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6" name="Google Shape;16;p3"/>
          <p:cNvSpPr/>
          <p:nvPr>
            <p:ph idx="3" type="pic"/>
          </p:nvPr>
        </p:nvSpPr>
        <p:spPr>
          <a:xfrm flipH="1">
            <a:off x="5468450" y="819367"/>
            <a:ext cx="2623800" cy="3826800"/>
          </a:xfrm>
          <a:prstGeom prst="rect">
            <a:avLst/>
          </a:prstGeom>
          <a:noFill/>
          <a:ln>
            <a:noFill/>
          </a:ln>
        </p:spPr>
      </p:sp>
      <p:cxnSp>
        <p:nvCxnSpPr>
          <p:cNvPr id="17" name="Google Shape;17;p3"/>
          <p:cNvCxnSpPr/>
          <p:nvPr/>
        </p:nvCxnSpPr>
        <p:spPr>
          <a:xfrm>
            <a:off x="3167225" y="539500"/>
            <a:ext cx="6072600" cy="0"/>
          </a:xfrm>
          <a:prstGeom prst="straightConnector1">
            <a:avLst/>
          </a:prstGeom>
          <a:noFill/>
          <a:ln cap="flat" cmpd="sng" w="9525">
            <a:solidFill>
              <a:schemeClr val="dk1"/>
            </a:solidFill>
            <a:prstDash val="solid"/>
            <a:round/>
            <a:headEnd len="med" w="med" type="none"/>
            <a:tailEnd len="med" w="med" type="none"/>
          </a:ln>
        </p:spPr>
      </p:cxnSp>
      <p:cxnSp>
        <p:nvCxnSpPr>
          <p:cNvPr id="18" name="Google Shape;18;p3"/>
          <p:cNvCxnSpPr/>
          <p:nvPr/>
        </p:nvCxnSpPr>
        <p:spPr>
          <a:xfrm rot="10800000">
            <a:off x="8430775" y="-28312"/>
            <a:ext cx="0" cy="46323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1" name="Google Shape;21;p4"/>
          <p:cNvSpPr txBox="1"/>
          <p:nvPr>
            <p:ph idx="1" type="body"/>
          </p:nvPr>
        </p:nvSpPr>
        <p:spPr>
          <a:xfrm>
            <a:off x="720000" y="1187601"/>
            <a:ext cx="7704000" cy="387900"/>
          </a:xfrm>
          <a:prstGeom prst="rect">
            <a:avLst/>
          </a:prstGeom>
        </p:spPr>
        <p:txBody>
          <a:bodyPr anchorCtr="0" anchor="t" bIns="91425" lIns="91425" spcFirstLastPara="1" rIns="91425" wrap="square" tIns="91425">
            <a:noAutofit/>
          </a:bodyPr>
          <a:lstStyle>
            <a:lvl1pPr indent="-304800" lvl="0" marL="457200" rtl="0">
              <a:lnSpc>
                <a:spcPct val="115000"/>
              </a:lnSpc>
              <a:spcBef>
                <a:spcPts val="0"/>
              </a:spcBef>
              <a:spcAft>
                <a:spcPts val="0"/>
              </a:spcAft>
              <a:buSzPts val="1200"/>
              <a:buFont typeface="Nunito Light"/>
              <a:buChar char="●"/>
              <a:defRPr sz="1400"/>
            </a:lvl1pPr>
            <a:lvl2pPr indent="-304800" lvl="1" marL="914400" rtl="0">
              <a:lnSpc>
                <a:spcPct val="100000"/>
              </a:lnSpc>
              <a:spcBef>
                <a:spcPts val="0"/>
              </a:spcBef>
              <a:spcAft>
                <a:spcPts val="0"/>
              </a:spcAft>
              <a:buSzPts val="1200"/>
              <a:buFont typeface="Nunito Light"/>
              <a:buChar char="○"/>
              <a:defRPr/>
            </a:lvl2pPr>
            <a:lvl3pPr indent="-304800" lvl="2" marL="1371600" rtl="0">
              <a:lnSpc>
                <a:spcPct val="100000"/>
              </a:lnSpc>
              <a:spcBef>
                <a:spcPts val="0"/>
              </a:spcBef>
              <a:spcAft>
                <a:spcPts val="0"/>
              </a:spcAft>
              <a:buSzPts val="1200"/>
              <a:buFont typeface="Nunito Light"/>
              <a:buChar char="■"/>
              <a:defRPr/>
            </a:lvl3pPr>
            <a:lvl4pPr indent="-304800" lvl="3" marL="1828800" rtl="0">
              <a:lnSpc>
                <a:spcPct val="100000"/>
              </a:lnSpc>
              <a:spcBef>
                <a:spcPts val="0"/>
              </a:spcBef>
              <a:spcAft>
                <a:spcPts val="0"/>
              </a:spcAft>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cxnSp>
        <p:nvCxnSpPr>
          <p:cNvPr id="22" name="Google Shape;22;p4"/>
          <p:cNvCxnSpPr/>
          <p:nvPr/>
        </p:nvCxnSpPr>
        <p:spPr>
          <a:xfrm>
            <a:off x="7161050" y="303000"/>
            <a:ext cx="2078700" cy="0"/>
          </a:xfrm>
          <a:prstGeom prst="straightConnector1">
            <a:avLst/>
          </a:prstGeom>
          <a:noFill/>
          <a:ln cap="flat" cmpd="sng" w="9525">
            <a:solidFill>
              <a:schemeClr val="dk1"/>
            </a:solidFill>
            <a:prstDash val="solid"/>
            <a:round/>
            <a:headEnd len="med" w="med" type="none"/>
            <a:tailEnd len="med" w="med" type="none"/>
          </a:ln>
        </p:spPr>
      </p:cxnSp>
      <p:cxnSp>
        <p:nvCxnSpPr>
          <p:cNvPr id="23" name="Google Shape;23;p4"/>
          <p:cNvCxnSpPr/>
          <p:nvPr/>
        </p:nvCxnSpPr>
        <p:spPr>
          <a:xfrm rot="10800000">
            <a:off x="8768625" y="-28312"/>
            <a:ext cx="0" cy="46323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6" name="Google Shape;26;p5"/>
          <p:cNvSpPr txBox="1"/>
          <p:nvPr>
            <p:ph idx="1" type="subTitle"/>
          </p:nvPr>
        </p:nvSpPr>
        <p:spPr>
          <a:xfrm>
            <a:off x="4299414" y="2860575"/>
            <a:ext cx="2695800" cy="1602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7" name="Google Shape;27;p5"/>
          <p:cNvSpPr txBox="1"/>
          <p:nvPr>
            <p:ph idx="2" type="subTitle"/>
          </p:nvPr>
        </p:nvSpPr>
        <p:spPr>
          <a:xfrm>
            <a:off x="713225" y="2860581"/>
            <a:ext cx="2695800" cy="1602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8" name="Google Shape;28;p5"/>
          <p:cNvSpPr txBox="1"/>
          <p:nvPr>
            <p:ph idx="3" type="subTitle"/>
          </p:nvPr>
        </p:nvSpPr>
        <p:spPr>
          <a:xfrm>
            <a:off x="713237" y="2123225"/>
            <a:ext cx="2695800" cy="8376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000">
                <a:solidFill>
                  <a:schemeClr val="dk1"/>
                </a:solidFill>
                <a:latin typeface="Playfair Display Medium"/>
                <a:ea typeface="Playfair Display Medium"/>
                <a:cs typeface="Playfair Display Medium"/>
                <a:sym typeface="Playfair Display Medium"/>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9" name="Google Shape;29;p5"/>
          <p:cNvSpPr txBox="1"/>
          <p:nvPr>
            <p:ph idx="4" type="subTitle"/>
          </p:nvPr>
        </p:nvSpPr>
        <p:spPr>
          <a:xfrm>
            <a:off x="4299412" y="2123225"/>
            <a:ext cx="2695800" cy="8376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000">
                <a:solidFill>
                  <a:schemeClr val="dk1"/>
                </a:solidFill>
                <a:latin typeface="Playfair Display Medium"/>
                <a:ea typeface="Playfair Display Medium"/>
                <a:cs typeface="Playfair Display Medium"/>
                <a:sym typeface="Playfair Display Medium"/>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cxnSp>
        <p:nvCxnSpPr>
          <p:cNvPr id="30" name="Google Shape;30;p5"/>
          <p:cNvCxnSpPr/>
          <p:nvPr/>
        </p:nvCxnSpPr>
        <p:spPr>
          <a:xfrm>
            <a:off x="7161050" y="303000"/>
            <a:ext cx="2078700" cy="0"/>
          </a:xfrm>
          <a:prstGeom prst="straightConnector1">
            <a:avLst/>
          </a:prstGeom>
          <a:noFill/>
          <a:ln cap="flat" cmpd="sng" w="9525">
            <a:solidFill>
              <a:schemeClr val="dk1"/>
            </a:solidFill>
            <a:prstDash val="solid"/>
            <a:round/>
            <a:headEnd len="med" w="med" type="none"/>
            <a:tailEnd len="med" w="med" type="none"/>
          </a:ln>
        </p:spPr>
      </p:cxnSp>
      <p:cxnSp>
        <p:nvCxnSpPr>
          <p:cNvPr id="31" name="Google Shape;31;p5"/>
          <p:cNvCxnSpPr/>
          <p:nvPr/>
        </p:nvCxnSpPr>
        <p:spPr>
          <a:xfrm rot="10800000">
            <a:off x="8768625" y="-28312"/>
            <a:ext cx="0" cy="46323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sp>
        <p:nvSpPr>
          <p:cNvPr id="33" name="Google Shape;33;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34" name="Google Shape;34;p6"/>
          <p:cNvCxnSpPr/>
          <p:nvPr/>
        </p:nvCxnSpPr>
        <p:spPr>
          <a:xfrm>
            <a:off x="7161050" y="303000"/>
            <a:ext cx="2078700" cy="0"/>
          </a:xfrm>
          <a:prstGeom prst="straightConnector1">
            <a:avLst/>
          </a:prstGeom>
          <a:noFill/>
          <a:ln cap="flat" cmpd="sng" w="9525">
            <a:solidFill>
              <a:schemeClr val="dk1"/>
            </a:solidFill>
            <a:prstDash val="solid"/>
            <a:round/>
            <a:headEnd len="med" w="med" type="none"/>
            <a:tailEnd len="med" w="med" type="none"/>
          </a:ln>
        </p:spPr>
      </p:cxnSp>
      <p:cxnSp>
        <p:nvCxnSpPr>
          <p:cNvPr id="35" name="Google Shape;35;p6"/>
          <p:cNvCxnSpPr/>
          <p:nvPr/>
        </p:nvCxnSpPr>
        <p:spPr>
          <a:xfrm rot="10800000">
            <a:off x="8768625" y="-28312"/>
            <a:ext cx="0" cy="46323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txBox="1"/>
          <p:nvPr>
            <p:ph type="title"/>
          </p:nvPr>
        </p:nvSpPr>
        <p:spPr>
          <a:xfrm>
            <a:off x="713225" y="734725"/>
            <a:ext cx="3737400" cy="1058700"/>
          </a:xfrm>
          <a:prstGeom prst="rect">
            <a:avLst/>
          </a:prstGeom>
        </p:spPr>
        <p:txBody>
          <a:bodyPr anchorCtr="0" anchor="t" bIns="91425" lIns="91425" spcFirstLastPara="1" rIns="91425" wrap="square" tIns="91425">
            <a:noAutofit/>
          </a:bodyPr>
          <a:lstStyle>
            <a:lvl1pPr lvl="0" rtl="0" algn="l">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8" name="Google Shape;38;p7"/>
          <p:cNvSpPr txBox="1"/>
          <p:nvPr>
            <p:ph idx="1" type="subTitle"/>
          </p:nvPr>
        </p:nvSpPr>
        <p:spPr>
          <a:xfrm>
            <a:off x="713225" y="1878000"/>
            <a:ext cx="4337400" cy="2530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Char char="●"/>
              <a:defRPr/>
            </a:lvl1pPr>
            <a:lvl2pPr lvl="1" rtl="0" algn="ctr">
              <a:lnSpc>
                <a:spcPct val="100000"/>
              </a:lnSpc>
              <a:spcBef>
                <a:spcPts val="1000"/>
              </a:spcBef>
              <a:spcAft>
                <a:spcPts val="0"/>
              </a:spcAft>
              <a:buClr>
                <a:srgbClr val="E76A28"/>
              </a:buClr>
              <a:buSzPts val="1200"/>
              <a:buChar char="○"/>
              <a:defRPr/>
            </a:lvl2pPr>
            <a:lvl3pPr lvl="2" rtl="0" algn="ctr">
              <a:lnSpc>
                <a:spcPct val="100000"/>
              </a:lnSpc>
              <a:spcBef>
                <a:spcPts val="1600"/>
              </a:spcBef>
              <a:spcAft>
                <a:spcPts val="0"/>
              </a:spcAft>
              <a:buClr>
                <a:srgbClr val="E76A28"/>
              </a:buClr>
              <a:buSzPts val="1200"/>
              <a:buChar char="■"/>
              <a:defRPr/>
            </a:lvl3pPr>
            <a:lvl4pPr lvl="3" rtl="0" algn="ctr">
              <a:lnSpc>
                <a:spcPct val="100000"/>
              </a:lnSpc>
              <a:spcBef>
                <a:spcPts val="1600"/>
              </a:spcBef>
              <a:spcAft>
                <a:spcPts val="0"/>
              </a:spcAft>
              <a:buClr>
                <a:srgbClr val="E76A28"/>
              </a:buClr>
              <a:buSzPts val="1200"/>
              <a:buChar char="●"/>
              <a:defRPr/>
            </a:lvl4pPr>
            <a:lvl5pPr lvl="4" rtl="0" algn="ctr">
              <a:lnSpc>
                <a:spcPct val="100000"/>
              </a:lnSpc>
              <a:spcBef>
                <a:spcPts val="1600"/>
              </a:spcBef>
              <a:spcAft>
                <a:spcPts val="0"/>
              </a:spcAft>
              <a:buClr>
                <a:srgbClr val="E76A28"/>
              </a:buClr>
              <a:buSzPts val="1200"/>
              <a:buChar char="○"/>
              <a:defRPr/>
            </a:lvl5pPr>
            <a:lvl6pPr lvl="5" rtl="0" algn="ctr">
              <a:lnSpc>
                <a:spcPct val="100000"/>
              </a:lnSpc>
              <a:spcBef>
                <a:spcPts val="1600"/>
              </a:spcBef>
              <a:spcAft>
                <a:spcPts val="0"/>
              </a:spcAft>
              <a:buClr>
                <a:srgbClr val="999999"/>
              </a:buClr>
              <a:buSzPts val="1200"/>
              <a:buChar char="■"/>
              <a:defRPr/>
            </a:lvl6pPr>
            <a:lvl7pPr lvl="6" rtl="0" algn="ctr">
              <a:lnSpc>
                <a:spcPct val="100000"/>
              </a:lnSpc>
              <a:spcBef>
                <a:spcPts val="1600"/>
              </a:spcBef>
              <a:spcAft>
                <a:spcPts val="0"/>
              </a:spcAft>
              <a:buClr>
                <a:srgbClr val="999999"/>
              </a:buClr>
              <a:buSzPts val="1200"/>
              <a:buChar char="●"/>
              <a:defRPr/>
            </a:lvl7pPr>
            <a:lvl8pPr lvl="7" rtl="0" algn="ctr">
              <a:lnSpc>
                <a:spcPct val="100000"/>
              </a:lnSpc>
              <a:spcBef>
                <a:spcPts val="1600"/>
              </a:spcBef>
              <a:spcAft>
                <a:spcPts val="0"/>
              </a:spcAft>
              <a:buClr>
                <a:srgbClr val="999999"/>
              </a:buClr>
              <a:buSzPts val="1200"/>
              <a:buChar char="○"/>
              <a:defRPr/>
            </a:lvl8pPr>
            <a:lvl9pPr lvl="8" rtl="0" algn="ctr">
              <a:lnSpc>
                <a:spcPct val="100000"/>
              </a:lnSpc>
              <a:spcBef>
                <a:spcPts val="1600"/>
              </a:spcBef>
              <a:spcAft>
                <a:spcPts val="1600"/>
              </a:spcAft>
              <a:buClr>
                <a:srgbClr val="999999"/>
              </a:buClr>
              <a:buSzPts val="1200"/>
              <a:buChar char="■"/>
              <a:defRPr/>
            </a:lvl9pPr>
          </a:lstStyle>
          <a:p/>
        </p:txBody>
      </p:sp>
      <p:sp>
        <p:nvSpPr>
          <p:cNvPr id="39" name="Google Shape;39;p7"/>
          <p:cNvSpPr/>
          <p:nvPr>
            <p:ph idx="2" type="pic"/>
          </p:nvPr>
        </p:nvSpPr>
        <p:spPr>
          <a:xfrm>
            <a:off x="5806850" y="658413"/>
            <a:ext cx="2623800" cy="3826800"/>
          </a:xfrm>
          <a:prstGeom prst="rect">
            <a:avLst/>
          </a:prstGeom>
          <a:noFill/>
          <a:ln>
            <a:noFill/>
          </a:ln>
        </p:spPr>
      </p:sp>
      <p:cxnSp>
        <p:nvCxnSpPr>
          <p:cNvPr id="40" name="Google Shape;40;p7"/>
          <p:cNvCxnSpPr/>
          <p:nvPr/>
        </p:nvCxnSpPr>
        <p:spPr>
          <a:xfrm>
            <a:off x="7161050" y="303000"/>
            <a:ext cx="2078700" cy="0"/>
          </a:xfrm>
          <a:prstGeom prst="straightConnector1">
            <a:avLst/>
          </a:prstGeom>
          <a:noFill/>
          <a:ln cap="flat" cmpd="sng" w="9525">
            <a:solidFill>
              <a:schemeClr val="dk1"/>
            </a:solidFill>
            <a:prstDash val="solid"/>
            <a:round/>
            <a:headEnd len="med" w="med" type="none"/>
            <a:tailEnd len="med" w="med" type="none"/>
          </a:ln>
        </p:spPr>
      </p:cxnSp>
      <p:cxnSp>
        <p:nvCxnSpPr>
          <p:cNvPr id="41" name="Google Shape;41;p7"/>
          <p:cNvCxnSpPr/>
          <p:nvPr/>
        </p:nvCxnSpPr>
        <p:spPr>
          <a:xfrm rot="10800000">
            <a:off x="8768625" y="-28312"/>
            <a:ext cx="0" cy="46323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8"/>
          <p:cNvSpPr txBox="1"/>
          <p:nvPr>
            <p:ph type="title"/>
          </p:nvPr>
        </p:nvSpPr>
        <p:spPr>
          <a:xfrm>
            <a:off x="2317950" y="1307100"/>
            <a:ext cx="4508100" cy="25293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cxnSp>
        <p:nvCxnSpPr>
          <p:cNvPr id="44" name="Google Shape;44;p8"/>
          <p:cNvCxnSpPr/>
          <p:nvPr/>
        </p:nvCxnSpPr>
        <p:spPr>
          <a:xfrm>
            <a:off x="7161050" y="303000"/>
            <a:ext cx="2078700" cy="0"/>
          </a:xfrm>
          <a:prstGeom prst="straightConnector1">
            <a:avLst/>
          </a:prstGeom>
          <a:noFill/>
          <a:ln cap="flat" cmpd="sng" w="9525">
            <a:solidFill>
              <a:schemeClr val="dk1"/>
            </a:solidFill>
            <a:prstDash val="solid"/>
            <a:round/>
            <a:headEnd len="med" w="med" type="none"/>
            <a:tailEnd len="med" w="med" type="none"/>
          </a:ln>
        </p:spPr>
      </p:cxnSp>
      <p:cxnSp>
        <p:nvCxnSpPr>
          <p:cNvPr id="45" name="Google Shape;45;p8"/>
          <p:cNvCxnSpPr/>
          <p:nvPr/>
        </p:nvCxnSpPr>
        <p:spPr>
          <a:xfrm rot="10800000">
            <a:off x="8768625" y="-28312"/>
            <a:ext cx="0" cy="46323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6" name="Shape 46"/>
        <p:cNvGrpSpPr/>
        <p:nvPr/>
      </p:nvGrpSpPr>
      <p:grpSpPr>
        <a:xfrm>
          <a:off x="0" y="0"/>
          <a:ext cx="0" cy="0"/>
          <a:chOff x="0" y="0"/>
          <a:chExt cx="0" cy="0"/>
        </a:xfrm>
      </p:grpSpPr>
      <p:sp>
        <p:nvSpPr>
          <p:cNvPr id="47" name="Google Shape;47;p9"/>
          <p:cNvSpPr txBox="1"/>
          <p:nvPr>
            <p:ph type="title"/>
          </p:nvPr>
        </p:nvSpPr>
        <p:spPr>
          <a:xfrm>
            <a:off x="2135550" y="1189100"/>
            <a:ext cx="4872900" cy="1964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sz="150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48" name="Google Shape;48;p9"/>
          <p:cNvSpPr txBox="1"/>
          <p:nvPr>
            <p:ph idx="1" type="subTitle"/>
          </p:nvPr>
        </p:nvSpPr>
        <p:spPr>
          <a:xfrm>
            <a:off x="2135550" y="3153500"/>
            <a:ext cx="4872900" cy="671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600"/>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cxnSp>
        <p:nvCxnSpPr>
          <p:cNvPr id="49" name="Google Shape;49;p9"/>
          <p:cNvCxnSpPr/>
          <p:nvPr/>
        </p:nvCxnSpPr>
        <p:spPr>
          <a:xfrm>
            <a:off x="3167225" y="539500"/>
            <a:ext cx="6072600" cy="0"/>
          </a:xfrm>
          <a:prstGeom prst="straightConnector1">
            <a:avLst/>
          </a:prstGeom>
          <a:noFill/>
          <a:ln cap="flat" cmpd="sng" w="9525">
            <a:solidFill>
              <a:schemeClr val="dk1"/>
            </a:solidFill>
            <a:prstDash val="solid"/>
            <a:round/>
            <a:headEnd len="med" w="med" type="none"/>
            <a:tailEnd len="med" w="med" type="none"/>
          </a:ln>
        </p:spPr>
      </p:cxnSp>
      <p:cxnSp>
        <p:nvCxnSpPr>
          <p:cNvPr id="50" name="Google Shape;50;p9"/>
          <p:cNvCxnSpPr/>
          <p:nvPr/>
        </p:nvCxnSpPr>
        <p:spPr>
          <a:xfrm rot="10800000">
            <a:off x="8430775" y="-28312"/>
            <a:ext cx="0" cy="46323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1" name="Shape 51"/>
        <p:cNvGrpSpPr/>
        <p:nvPr/>
      </p:nvGrpSpPr>
      <p:grpSpPr>
        <a:xfrm>
          <a:off x="0" y="0"/>
          <a:ext cx="0" cy="0"/>
          <a:chOff x="0" y="0"/>
          <a:chExt cx="0" cy="0"/>
        </a:xfrm>
      </p:grpSpPr>
      <p:sp>
        <p:nvSpPr>
          <p:cNvPr id="52" name="Google Shape;52;p10"/>
          <p:cNvSpPr/>
          <p:nvPr>
            <p:ph idx="2" type="pic"/>
          </p:nvPr>
        </p:nvSpPr>
        <p:spPr>
          <a:xfrm>
            <a:off x="0" y="-14875"/>
            <a:ext cx="9144000" cy="5158500"/>
          </a:xfrm>
          <a:prstGeom prst="rect">
            <a:avLst/>
          </a:prstGeom>
          <a:noFill/>
          <a:ln>
            <a:noFill/>
          </a:ln>
        </p:spPr>
      </p:sp>
      <p:sp>
        <p:nvSpPr>
          <p:cNvPr id="53" name="Google Shape;53;p10"/>
          <p:cNvSpPr txBox="1"/>
          <p:nvPr>
            <p:ph type="title"/>
          </p:nvPr>
        </p:nvSpPr>
        <p:spPr>
          <a:xfrm>
            <a:off x="713225" y="3887925"/>
            <a:ext cx="7717500" cy="476700"/>
          </a:xfrm>
          <a:prstGeom prst="rect">
            <a:avLst/>
          </a:prstGeom>
          <a:solidFill>
            <a:schemeClr val="lt1"/>
          </a:solidFill>
        </p:spPr>
        <p:txBody>
          <a:bodyPr anchorCtr="0" anchor="t" bIns="91425" lIns="91425" spcFirstLastPara="1" rIns="91425" wrap="square" tIns="91425">
            <a:noAutofit/>
          </a:bodyPr>
          <a:lstStyle>
            <a:lvl1pPr lvl="0" rtl="0">
              <a:spcBef>
                <a:spcPts val="0"/>
              </a:spcBef>
              <a:spcAft>
                <a:spcPts val="0"/>
              </a:spcAft>
              <a:buSzPts val="2800"/>
              <a:buNone/>
              <a:defRPr sz="18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4" name="Shape 54"/>
        <p:cNvGrpSpPr/>
        <p:nvPr/>
      </p:nvGrpSpPr>
      <p:grpSpPr>
        <a:xfrm>
          <a:off x="0" y="0"/>
          <a:ext cx="0" cy="0"/>
          <a:chOff x="0" y="0"/>
          <a:chExt cx="0" cy="0"/>
        </a:xfrm>
      </p:grpSpPr>
      <p:sp>
        <p:nvSpPr>
          <p:cNvPr id="55" name="Google Shape;55;p11"/>
          <p:cNvSpPr txBox="1"/>
          <p:nvPr>
            <p:ph hasCustomPrompt="1" type="title"/>
          </p:nvPr>
        </p:nvSpPr>
        <p:spPr>
          <a:xfrm>
            <a:off x="713225" y="3408625"/>
            <a:ext cx="2466300" cy="819000"/>
          </a:xfrm>
          <a:prstGeom prst="rect">
            <a:avLst/>
          </a:prstGeom>
        </p:spPr>
        <p:txBody>
          <a:bodyPr anchorCtr="0" anchor="b" bIns="91425" lIns="91425" spcFirstLastPara="1" rIns="91425" wrap="square" tIns="91425">
            <a:noAutofit/>
          </a:bodyPr>
          <a:lstStyle>
            <a:lvl1pPr lvl="0">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56" name="Google Shape;56;p11"/>
          <p:cNvSpPr txBox="1"/>
          <p:nvPr>
            <p:ph idx="1" type="subTitle"/>
          </p:nvPr>
        </p:nvSpPr>
        <p:spPr>
          <a:xfrm>
            <a:off x="713225" y="2622925"/>
            <a:ext cx="2466300" cy="66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1600"/>
              </a:spcBef>
              <a:spcAft>
                <a:spcPts val="0"/>
              </a:spcAft>
              <a:buSzPts val="1600"/>
              <a:buNone/>
              <a:defRPr sz="1600"/>
            </a:lvl3pPr>
            <a:lvl4pPr lvl="3" rtl="0" algn="ctr">
              <a:lnSpc>
                <a:spcPct val="100000"/>
              </a:lnSpc>
              <a:spcBef>
                <a:spcPts val="1600"/>
              </a:spcBef>
              <a:spcAft>
                <a:spcPts val="0"/>
              </a:spcAft>
              <a:buSzPts val="1600"/>
              <a:buNone/>
              <a:defRPr sz="1600"/>
            </a:lvl4pPr>
            <a:lvl5pPr lvl="4" rtl="0" algn="ctr">
              <a:lnSpc>
                <a:spcPct val="100000"/>
              </a:lnSpc>
              <a:spcBef>
                <a:spcPts val="1600"/>
              </a:spcBef>
              <a:spcAft>
                <a:spcPts val="0"/>
              </a:spcAft>
              <a:buSzPts val="1600"/>
              <a:buNone/>
              <a:defRPr sz="1600"/>
            </a:lvl5pPr>
            <a:lvl6pPr lvl="5" rtl="0" algn="ctr">
              <a:lnSpc>
                <a:spcPct val="100000"/>
              </a:lnSpc>
              <a:spcBef>
                <a:spcPts val="1600"/>
              </a:spcBef>
              <a:spcAft>
                <a:spcPts val="0"/>
              </a:spcAft>
              <a:buSzPts val="1600"/>
              <a:buNone/>
              <a:defRPr sz="1600"/>
            </a:lvl6pPr>
            <a:lvl7pPr lvl="6" rtl="0" algn="ctr">
              <a:lnSpc>
                <a:spcPct val="100000"/>
              </a:lnSpc>
              <a:spcBef>
                <a:spcPts val="1600"/>
              </a:spcBef>
              <a:spcAft>
                <a:spcPts val="0"/>
              </a:spcAft>
              <a:buSzPts val="1600"/>
              <a:buNone/>
              <a:defRPr sz="1600"/>
            </a:lvl7pPr>
            <a:lvl8pPr lvl="7" rtl="0" algn="ctr">
              <a:lnSpc>
                <a:spcPct val="100000"/>
              </a:lnSpc>
              <a:spcBef>
                <a:spcPts val="1600"/>
              </a:spcBef>
              <a:spcAft>
                <a:spcPts val="0"/>
              </a:spcAft>
              <a:buSzPts val="1600"/>
              <a:buNone/>
              <a:defRPr sz="1600"/>
            </a:lvl8pPr>
            <a:lvl9pPr lvl="8" rtl="0" algn="ctr">
              <a:lnSpc>
                <a:spcPct val="100000"/>
              </a:lnSpc>
              <a:spcBef>
                <a:spcPts val="1600"/>
              </a:spcBef>
              <a:spcAft>
                <a:spcPts val="1600"/>
              </a:spcAft>
              <a:buSzPts val="1600"/>
              <a:buNone/>
              <a:defRPr sz="1600"/>
            </a:lvl9pPr>
          </a:lstStyle>
          <a:p/>
        </p:txBody>
      </p:sp>
      <p:cxnSp>
        <p:nvCxnSpPr>
          <p:cNvPr id="57" name="Google Shape;57;p11"/>
          <p:cNvCxnSpPr/>
          <p:nvPr/>
        </p:nvCxnSpPr>
        <p:spPr>
          <a:xfrm>
            <a:off x="3167225" y="539500"/>
            <a:ext cx="6072600" cy="0"/>
          </a:xfrm>
          <a:prstGeom prst="straightConnector1">
            <a:avLst/>
          </a:prstGeom>
          <a:noFill/>
          <a:ln cap="flat" cmpd="sng" w="9525">
            <a:solidFill>
              <a:schemeClr val="dk1"/>
            </a:solidFill>
            <a:prstDash val="solid"/>
            <a:round/>
            <a:headEnd len="med" w="med" type="none"/>
            <a:tailEnd len="med" w="med" type="none"/>
          </a:ln>
        </p:spPr>
      </p:cxnSp>
      <p:cxnSp>
        <p:nvCxnSpPr>
          <p:cNvPr id="58" name="Google Shape;58;p11"/>
          <p:cNvCxnSpPr/>
          <p:nvPr/>
        </p:nvCxnSpPr>
        <p:spPr>
          <a:xfrm rot="10800000">
            <a:off x="8430775" y="-28312"/>
            <a:ext cx="0" cy="46323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59" name="Shape 59"/>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60" name="Shape 60"/>
        <p:cNvGrpSpPr/>
        <p:nvPr/>
      </p:nvGrpSpPr>
      <p:grpSpPr>
        <a:xfrm>
          <a:off x="0" y="0"/>
          <a:ext cx="0" cy="0"/>
          <a:chOff x="0" y="0"/>
          <a:chExt cx="0" cy="0"/>
        </a:xfrm>
      </p:grpSpPr>
      <p:sp>
        <p:nvSpPr>
          <p:cNvPr id="61" name="Google Shape;61;p1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2" name="Google Shape;62;p13"/>
          <p:cNvSpPr txBox="1"/>
          <p:nvPr>
            <p:ph hasCustomPrompt="1" idx="2" type="title"/>
          </p:nvPr>
        </p:nvSpPr>
        <p:spPr>
          <a:xfrm>
            <a:off x="720000" y="2648408"/>
            <a:ext cx="7347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3" name="Google Shape;63;p13"/>
          <p:cNvSpPr txBox="1"/>
          <p:nvPr>
            <p:ph hasCustomPrompt="1" idx="3" type="title"/>
          </p:nvPr>
        </p:nvSpPr>
        <p:spPr>
          <a:xfrm>
            <a:off x="3760200" y="2648391"/>
            <a:ext cx="7347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4" name="Google Shape;64;p13"/>
          <p:cNvSpPr txBox="1"/>
          <p:nvPr>
            <p:ph hasCustomPrompt="1" idx="4" type="title"/>
          </p:nvPr>
        </p:nvSpPr>
        <p:spPr>
          <a:xfrm>
            <a:off x="720000" y="3247483"/>
            <a:ext cx="7347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5" name="Google Shape;65;p13"/>
          <p:cNvSpPr txBox="1"/>
          <p:nvPr>
            <p:ph hasCustomPrompt="1" idx="5" type="title"/>
          </p:nvPr>
        </p:nvSpPr>
        <p:spPr>
          <a:xfrm>
            <a:off x="3760200" y="3247466"/>
            <a:ext cx="7347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6" name="Google Shape;66;p13"/>
          <p:cNvSpPr txBox="1"/>
          <p:nvPr>
            <p:ph hasCustomPrompt="1" idx="6" type="title"/>
          </p:nvPr>
        </p:nvSpPr>
        <p:spPr>
          <a:xfrm>
            <a:off x="720000" y="3846558"/>
            <a:ext cx="7347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7" name="Google Shape;67;p13"/>
          <p:cNvSpPr txBox="1"/>
          <p:nvPr>
            <p:ph hasCustomPrompt="1" idx="7" type="title"/>
          </p:nvPr>
        </p:nvSpPr>
        <p:spPr>
          <a:xfrm>
            <a:off x="3760200" y="3846541"/>
            <a:ext cx="7347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8" name="Google Shape;68;p13"/>
          <p:cNvSpPr txBox="1"/>
          <p:nvPr>
            <p:ph idx="1" type="subTitle"/>
          </p:nvPr>
        </p:nvSpPr>
        <p:spPr>
          <a:xfrm>
            <a:off x="1454700" y="2648400"/>
            <a:ext cx="2305500" cy="4476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000">
                <a:solidFill>
                  <a:schemeClr val="dk1"/>
                </a:solidFill>
                <a:latin typeface="Playfair Display Medium"/>
                <a:ea typeface="Playfair Display Medium"/>
                <a:cs typeface="Playfair Display Medium"/>
                <a:sym typeface="Playfair Display Medium"/>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69" name="Google Shape;69;p13"/>
          <p:cNvSpPr txBox="1"/>
          <p:nvPr>
            <p:ph idx="8" type="subTitle"/>
          </p:nvPr>
        </p:nvSpPr>
        <p:spPr>
          <a:xfrm>
            <a:off x="1454700" y="3247475"/>
            <a:ext cx="2305500" cy="4476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000">
                <a:solidFill>
                  <a:schemeClr val="dk1"/>
                </a:solidFill>
                <a:latin typeface="Playfair Display Medium"/>
                <a:ea typeface="Playfair Display Medium"/>
                <a:cs typeface="Playfair Display Medium"/>
                <a:sym typeface="Playfair Display Medium"/>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70" name="Google Shape;70;p13"/>
          <p:cNvSpPr txBox="1"/>
          <p:nvPr>
            <p:ph idx="9" type="subTitle"/>
          </p:nvPr>
        </p:nvSpPr>
        <p:spPr>
          <a:xfrm>
            <a:off x="1454700" y="3846550"/>
            <a:ext cx="2305500" cy="4476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000">
                <a:solidFill>
                  <a:schemeClr val="dk1"/>
                </a:solidFill>
                <a:latin typeface="Playfair Display Medium"/>
                <a:ea typeface="Playfair Display Medium"/>
                <a:cs typeface="Playfair Display Medium"/>
                <a:sym typeface="Playfair Display Medium"/>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71" name="Google Shape;71;p13"/>
          <p:cNvSpPr txBox="1"/>
          <p:nvPr>
            <p:ph idx="13" type="subTitle"/>
          </p:nvPr>
        </p:nvSpPr>
        <p:spPr>
          <a:xfrm>
            <a:off x="4494900" y="2648400"/>
            <a:ext cx="2305500" cy="4476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000">
                <a:solidFill>
                  <a:schemeClr val="dk1"/>
                </a:solidFill>
                <a:latin typeface="Playfair Display Medium"/>
                <a:ea typeface="Playfair Display Medium"/>
                <a:cs typeface="Playfair Display Medium"/>
                <a:sym typeface="Playfair Display Medium"/>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72" name="Google Shape;72;p13"/>
          <p:cNvSpPr txBox="1"/>
          <p:nvPr>
            <p:ph idx="14" type="subTitle"/>
          </p:nvPr>
        </p:nvSpPr>
        <p:spPr>
          <a:xfrm>
            <a:off x="4494900" y="3247475"/>
            <a:ext cx="2305500" cy="4476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000">
                <a:solidFill>
                  <a:schemeClr val="dk1"/>
                </a:solidFill>
                <a:latin typeface="Playfair Display Medium"/>
                <a:ea typeface="Playfair Display Medium"/>
                <a:cs typeface="Playfair Display Medium"/>
                <a:sym typeface="Playfair Display Medium"/>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73" name="Google Shape;73;p13"/>
          <p:cNvSpPr txBox="1"/>
          <p:nvPr>
            <p:ph idx="15" type="subTitle"/>
          </p:nvPr>
        </p:nvSpPr>
        <p:spPr>
          <a:xfrm>
            <a:off x="4494900" y="3846550"/>
            <a:ext cx="2305500" cy="4476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000">
                <a:solidFill>
                  <a:schemeClr val="dk1"/>
                </a:solidFill>
                <a:latin typeface="Playfair Display Medium"/>
                <a:ea typeface="Playfair Display Medium"/>
                <a:cs typeface="Playfair Display Medium"/>
                <a:sym typeface="Playfair Display Medium"/>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cxnSp>
        <p:nvCxnSpPr>
          <p:cNvPr id="74" name="Google Shape;74;p13"/>
          <p:cNvCxnSpPr/>
          <p:nvPr/>
        </p:nvCxnSpPr>
        <p:spPr>
          <a:xfrm>
            <a:off x="7161050" y="303000"/>
            <a:ext cx="2078700" cy="0"/>
          </a:xfrm>
          <a:prstGeom prst="straightConnector1">
            <a:avLst/>
          </a:prstGeom>
          <a:noFill/>
          <a:ln cap="flat" cmpd="sng" w="9525">
            <a:solidFill>
              <a:schemeClr val="dk1"/>
            </a:solidFill>
            <a:prstDash val="solid"/>
            <a:round/>
            <a:headEnd len="med" w="med" type="none"/>
            <a:tailEnd len="med" w="med" type="none"/>
          </a:ln>
        </p:spPr>
      </p:cxnSp>
      <p:cxnSp>
        <p:nvCxnSpPr>
          <p:cNvPr id="75" name="Google Shape;75;p13"/>
          <p:cNvCxnSpPr/>
          <p:nvPr/>
        </p:nvCxnSpPr>
        <p:spPr>
          <a:xfrm rot="10800000">
            <a:off x="8768625" y="-28312"/>
            <a:ext cx="0" cy="46323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76" name="Shape 76"/>
        <p:cNvGrpSpPr/>
        <p:nvPr/>
      </p:nvGrpSpPr>
      <p:grpSpPr>
        <a:xfrm>
          <a:off x="0" y="0"/>
          <a:ext cx="0" cy="0"/>
          <a:chOff x="0" y="0"/>
          <a:chExt cx="0" cy="0"/>
        </a:xfrm>
      </p:grpSpPr>
      <p:sp>
        <p:nvSpPr>
          <p:cNvPr id="77" name="Google Shape;77;p14"/>
          <p:cNvSpPr txBox="1"/>
          <p:nvPr>
            <p:ph type="title"/>
          </p:nvPr>
        </p:nvSpPr>
        <p:spPr>
          <a:xfrm>
            <a:off x="1727575" y="537275"/>
            <a:ext cx="3021300" cy="4827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78" name="Google Shape;78;p14"/>
          <p:cNvCxnSpPr/>
          <p:nvPr/>
        </p:nvCxnSpPr>
        <p:spPr>
          <a:xfrm>
            <a:off x="7161050" y="303000"/>
            <a:ext cx="2078700" cy="0"/>
          </a:xfrm>
          <a:prstGeom prst="straightConnector1">
            <a:avLst/>
          </a:prstGeom>
          <a:noFill/>
          <a:ln cap="flat" cmpd="sng" w="9525">
            <a:solidFill>
              <a:schemeClr val="dk1"/>
            </a:solidFill>
            <a:prstDash val="solid"/>
            <a:round/>
            <a:headEnd len="med" w="med" type="none"/>
            <a:tailEnd len="med" w="med" type="none"/>
          </a:ln>
        </p:spPr>
      </p:cxnSp>
      <p:cxnSp>
        <p:nvCxnSpPr>
          <p:cNvPr id="79" name="Google Shape;79;p14"/>
          <p:cNvCxnSpPr/>
          <p:nvPr/>
        </p:nvCxnSpPr>
        <p:spPr>
          <a:xfrm rot="10800000">
            <a:off x="8768625" y="-28312"/>
            <a:ext cx="0" cy="46323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2">
    <p:spTree>
      <p:nvGrpSpPr>
        <p:cNvPr id="80" name="Shape 80"/>
        <p:cNvGrpSpPr/>
        <p:nvPr/>
      </p:nvGrpSpPr>
      <p:grpSpPr>
        <a:xfrm>
          <a:off x="0" y="0"/>
          <a:ext cx="0" cy="0"/>
          <a:chOff x="0" y="0"/>
          <a:chExt cx="0" cy="0"/>
        </a:xfrm>
      </p:grpSpPr>
      <p:sp>
        <p:nvSpPr>
          <p:cNvPr id="81" name="Google Shape;81;p1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82" name="Google Shape;82;p15"/>
          <p:cNvCxnSpPr/>
          <p:nvPr/>
        </p:nvCxnSpPr>
        <p:spPr>
          <a:xfrm>
            <a:off x="7161050" y="303000"/>
            <a:ext cx="2078700" cy="0"/>
          </a:xfrm>
          <a:prstGeom prst="straightConnector1">
            <a:avLst/>
          </a:prstGeom>
          <a:noFill/>
          <a:ln cap="flat" cmpd="sng" w="9525">
            <a:solidFill>
              <a:schemeClr val="dk1"/>
            </a:solidFill>
            <a:prstDash val="solid"/>
            <a:round/>
            <a:headEnd len="med" w="med" type="none"/>
            <a:tailEnd len="med" w="med" type="none"/>
          </a:ln>
        </p:spPr>
      </p:cxnSp>
      <p:cxnSp>
        <p:nvCxnSpPr>
          <p:cNvPr id="83" name="Google Shape;83;p15"/>
          <p:cNvCxnSpPr/>
          <p:nvPr/>
        </p:nvCxnSpPr>
        <p:spPr>
          <a:xfrm rot="10800000">
            <a:off x="8768625" y="-28312"/>
            <a:ext cx="0" cy="46323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4_1">
    <p:spTree>
      <p:nvGrpSpPr>
        <p:cNvPr id="84" name="Shape 84"/>
        <p:cNvGrpSpPr/>
        <p:nvPr/>
      </p:nvGrpSpPr>
      <p:grpSpPr>
        <a:xfrm>
          <a:off x="0" y="0"/>
          <a:ext cx="0" cy="0"/>
          <a:chOff x="0" y="0"/>
          <a:chExt cx="0" cy="0"/>
        </a:xfrm>
      </p:grpSpPr>
      <p:sp>
        <p:nvSpPr>
          <p:cNvPr id="85" name="Google Shape;85;p16"/>
          <p:cNvSpPr txBox="1"/>
          <p:nvPr>
            <p:ph type="title"/>
          </p:nvPr>
        </p:nvSpPr>
        <p:spPr>
          <a:xfrm>
            <a:off x="713225" y="3404150"/>
            <a:ext cx="4598400" cy="628800"/>
          </a:xfrm>
          <a:prstGeom prst="rect">
            <a:avLst/>
          </a:prstGeom>
        </p:spPr>
        <p:txBody>
          <a:bodyPr anchorCtr="0" anchor="b"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86" name="Google Shape;86;p16"/>
          <p:cNvSpPr txBox="1"/>
          <p:nvPr>
            <p:ph idx="1" type="subTitle"/>
          </p:nvPr>
        </p:nvSpPr>
        <p:spPr>
          <a:xfrm>
            <a:off x="713225" y="3975200"/>
            <a:ext cx="4598400" cy="628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87" name="Google Shape;87;p16"/>
          <p:cNvSpPr/>
          <p:nvPr>
            <p:ph idx="2" type="pic"/>
          </p:nvPr>
        </p:nvSpPr>
        <p:spPr>
          <a:xfrm>
            <a:off x="713225" y="539500"/>
            <a:ext cx="4598400" cy="2598300"/>
          </a:xfrm>
          <a:prstGeom prst="rect">
            <a:avLst/>
          </a:prstGeom>
          <a:noFill/>
          <a:ln>
            <a:noFill/>
          </a:ln>
        </p:spPr>
      </p:sp>
      <p:sp>
        <p:nvSpPr>
          <p:cNvPr id="88" name="Google Shape;88;p16"/>
          <p:cNvSpPr/>
          <p:nvPr>
            <p:ph idx="3" type="pic"/>
          </p:nvPr>
        </p:nvSpPr>
        <p:spPr>
          <a:xfrm>
            <a:off x="5564583" y="539500"/>
            <a:ext cx="2866200" cy="4064400"/>
          </a:xfrm>
          <a:prstGeom prst="rect">
            <a:avLst/>
          </a:prstGeom>
          <a:noFill/>
          <a:ln>
            <a:noFill/>
          </a:ln>
        </p:spPr>
      </p:sp>
      <p:cxnSp>
        <p:nvCxnSpPr>
          <p:cNvPr id="89" name="Google Shape;89;p16"/>
          <p:cNvCxnSpPr/>
          <p:nvPr/>
        </p:nvCxnSpPr>
        <p:spPr>
          <a:xfrm>
            <a:off x="7161050" y="303000"/>
            <a:ext cx="2078700" cy="0"/>
          </a:xfrm>
          <a:prstGeom prst="straightConnector1">
            <a:avLst/>
          </a:prstGeom>
          <a:noFill/>
          <a:ln cap="flat" cmpd="sng" w="9525">
            <a:solidFill>
              <a:schemeClr val="dk1"/>
            </a:solidFill>
            <a:prstDash val="solid"/>
            <a:round/>
            <a:headEnd len="med" w="med" type="none"/>
            <a:tailEnd len="med" w="med" type="none"/>
          </a:ln>
        </p:spPr>
      </p:cxnSp>
      <p:cxnSp>
        <p:nvCxnSpPr>
          <p:cNvPr id="90" name="Google Shape;90;p16"/>
          <p:cNvCxnSpPr/>
          <p:nvPr/>
        </p:nvCxnSpPr>
        <p:spPr>
          <a:xfrm rot="10800000">
            <a:off x="8768625" y="-28312"/>
            <a:ext cx="0" cy="46323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0">
    <p:spTree>
      <p:nvGrpSpPr>
        <p:cNvPr id="91" name="Shape 91"/>
        <p:cNvGrpSpPr/>
        <p:nvPr/>
      </p:nvGrpSpPr>
      <p:grpSpPr>
        <a:xfrm>
          <a:off x="0" y="0"/>
          <a:ext cx="0" cy="0"/>
          <a:chOff x="0" y="0"/>
          <a:chExt cx="0" cy="0"/>
        </a:xfrm>
      </p:grpSpPr>
      <p:sp>
        <p:nvSpPr>
          <p:cNvPr id="92" name="Google Shape;92;p17"/>
          <p:cNvSpPr txBox="1"/>
          <p:nvPr>
            <p:ph type="title"/>
          </p:nvPr>
        </p:nvSpPr>
        <p:spPr>
          <a:xfrm>
            <a:off x="6279450" y="539500"/>
            <a:ext cx="2151300" cy="11466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93" name="Google Shape;93;p17"/>
          <p:cNvSpPr txBox="1"/>
          <p:nvPr>
            <p:ph idx="1" type="subTitle"/>
          </p:nvPr>
        </p:nvSpPr>
        <p:spPr>
          <a:xfrm>
            <a:off x="6279450" y="1486025"/>
            <a:ext cx="2151300" cy="1026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94" name="Google Shape;94;p17"/>
          <p:cNvSpPr/>
          <p:nvPr>
            <p:ph idx="2" type="pic"/>
          </p:nvPr>
        </p:nvSpPr>
        <p:spPr>
          <a:xfrm>
            <a:off x="678047" y="539500"/>
            <a:ext cx="2709000" cy="4064400"/>
          </a:xfrm>
          <a:prstGeom prst="rect">
            <a:avLst/>
          </a:prstGeom>
          <a:noFill/>
          <a:ln>
            <a:noFill/>
          </a:ln>
        </p:spPr>
      </p:sp>
      <p:sp>
        <p:nvSpPr>
          <p:cNvPr id="95" name="Google Shape;95;p17"/>
          <p:cNvSpPr/>
          <p:nvPr>
            <p:ph idx="3" type="pic"/>
          </p:nvPr>
        </p:nvSpPr>
        <p:spPr>
          <a:xfrm>
            <a:off x="3690375" y="3055272"/>
            <a:ext cx="4740300" cy="1548600"/>
          </a:xfrm>
          <a:prstGeom prst="rect">
            <a:avLst/>
          </a:prstGeom>
          <a:noFill/>
          <a:ln>
            <a:noFill/>
          </a:ln>
        </p:spPr>
      </p:sp>
      <p:sp>
        <p:nvSpPr>
          <p:cNvPr id="96" name="Google Shape;96;p17"/>
          <p:cNvSpPr/>
          <p:nvPr>
            <p:ph idx="4" type="pic"/>
          </p:nvPr>
        </p:nvSpPr>
        <p:spPr>
          <a:xfrm>
            <a:off x="3690375" y="539500"/>
            <a:ext cx="2285700" cy="2285700"/>
          </a:xfrm>
          <a:prstGeom prst="rect">
            <a:avLst/>
          </a:prstGeom>
          <a:noFill/>
          <a:ln>
            <a:noFill/>
          </a:ln>
        </p:spPr>
      </p:sp>
      <p:cxnSp>
        <p:nvCxnSpPr>
          <p:cNvPr id="97" name="Google Shape;97;p17"/>
          <p:cNvCxnSpPr/>
          <p:nvPr/>
        </p:nvCxnSpPr>
        <p:spPr>
          <a:xfrm>
            <a:off x="7161050" y="303000"/>
            <a:ext cx="2078700" cy="0"/>
          </a:xfrm>
          <a:prstGeom prst="straightConnector1">
            <a:avLst/>
          </a:prstGeom>
          <a:noFill/>
          <a:ln cap="flat" cmpd="sng" w="9525">
            <a:solidFill>
              <a:schemeClr val="dk1"/>
            </a:solidFill>
            <a:prstDash val="solid"/>
            <a:round/>
            <a:headEnd len="med" w="med" type="none"/>
            <a:tailEnd len="med" w="med" type="none"/>
          </a:ln>
        </p:spPr>
      </p:cxnSp>
      <p:cxnSp>
        <p:nvCxnSpPr>
          <p:cNvPr id="98" name="Google Shape;98;p17"/>
          <p:cNvCxnSpPr/>
          <p:nvPr/>
        </p:nvCxnSpPr>
        <p:spPr>
          <a:xfrm rot="10800000">
            <a:off x="8768625" y="-28312"/>
            <a:ext cx="0" cy="46323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10_1">
    <p:spTree>
      <p:nvGrpSpPr>
        <p:cNvPr id="99" name="Shape 99"/>
        <p:cNvGrpSpPr/>
        <p:nvPr/>
      </p:nvGrpSpPr>
      <p:grpSpPr>
        <a:xfrm>
          <a:off x="0" y="0"/>
          <a:ext cx="0" cy="0"/>
          <a:chOff x="0" y="0"/>
          <a:chExt cx="0" cy="0"/>
        </a:xfrm>
      </p:grpSpPr>
      <p:sp>
        <p:nvSpPr>
          <p:cNvPr id="100" name="Google Shape;100;p18"/>
          <p:cNvSpPr txBox="1"/>
          <p:nvPr>
            <p:ph type="title"/>
          </p:nvPr>
        </p:nvSpPr>
        <p:spPr>
          <a:xfrm>
            <a:off x="713250" y="445025"/>
            <a:ext cx="4635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01" name="Google Shape;101;p18"/>
          <p:cNvSpPr txBox="1"/>
          <p:nvPr>
            <p:ph idx="1" type="body"/>
          </p:nvPr>
        </p:nvSpPr>
        <p:spPr>
          <a:xfrm>
            <a:off x="713250" y="1406925"/>
            <a:ext cx="7717500" cy="25251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SzPts val="1200"/>
              <a:buFont typeface="Nunito Light"/>
              <a:buChar char="●"/>
              <a:defRPr/>
            </a:lvl1pPr>
            <a:lvl2pPr indent="-304800" lvl="1" marL="914400" rtl="0">
              <a:lnSpc>
                <a:spcPct val="100000"/>
              </a:lnSpc>
              <a:spcBef>
                <a:spcPts val="1200"/>
              </a:spcBef>
              <a:spcAft>
                <a:spcPts val="0"/>
              </a:spcAft>
              <a:buSzPts val="1200"/>
              <a:buFont typeface="Nunito Light"/>
              <a:buChar char="○"/>
              <a:defRPr/>
            </a:lvl2pPr>
            <a:lvl3pPr indent="-304800" lvl="2" marL="1371600" rtl="0">
              <a:lnSpc>
                <a:spcPct val="100000"/>
              </a:lnSpc>
              <a:spcBef>
                <a:spcPts val="0"/>
              </a:spcBef>
              <a:spcAft>
                <a:spcPts val="0"/>
              </a:spcAft>
              <a:buSzPts val="1200"/>
              <a:buFont typeface="Nunito Light"/>
              <a:buChar char="■"/>
              <a:defRPr/>
            </a:lvl3pPr>
            <a:lvl4pPr indent="-304800" lvl="3" marL="1828800" rtl="0">
              <a:lnSpc>
                <a:spcPct val="100000"/>
              </a:lnSpc>
              <a:spcBef>
                <a:spcPts val="0"/>
              </a:spcBef>
              <a:spcAft>
                <a:spcPts val="0"/>
              </a:spcAft>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cxnSp>
        <p:nvCxnSpPr>
          <p:cNvPr id="102" name="Google Shape;102;p18"/>
          <p:cNvCxnSpPr/>
          <p:nvPr/>
        </p:nvCxnSpPr>
        <p:spPr>
          <a:xfrm>
            <a:off x="7161050" y="303000"/>
            <a:ext cx="2078700" cy="0"/>
          </a:xfrm>
          <a:prstGeom prst="straightConnector1">
            <a:avLst/>
          </a:prstGeom>
          <a:noFill/>
          <a:ln cap="flat" cmpd="sng" w="9525">
            <a:solidFill>
              <a:schemeClr val="dk1"/>
            </a:solidFill>
            <a:prstDash val="solid"/>
            <a:round/>
            <a:headEnd len="med" w="med" type="none"/>
            <a:tailEnd len="med" w="med" type="none"/>
          </a:ln>
        </p:spPr>
      </p:cxnSp>
      <p:cxnSp>
        <p:nvCxnSpPr>
          <p:cNvPr id="103" name="Google Shape;103;p18"/>
          <p:cNvCxnSpPr/>
          <p:nvPr/>
        </p:nvCxnSpPr>
        <p:spPr>
          <a:xfrm rot="10800000">
            <a:off x="8768625" y="-28312"/>
            <a:ext cx="0" cy="46323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TITLE_AND_BODY_1">
    <p:spTree>
      <p:nvGrpSpPr>
        <p:cNvPr id="104" name="Shape 104"/>
        <p:cNvGrpSpPr/>
        <p:nvPr/>
      </p:nvGrpSpPr>
      <p:grpSpPr>
        <a:xfrm>
          <a:off x="0" y="0"/>
          <a:ext cx="0" cy="0"/>
          <a:chOff x="0" y="0"/>
          <a:chExt cx="0" cy="0"/>
        </a:xfrm>
      </p:grpSpPr>
      <p:sp>
        <p:nvSpPr>
          <p:cNvPr id="105" name="Google Shape;105;p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06" name="Google Shape;106;p19"/>
          <p:cNvSpPr txBox="1"/>
          <p:nvPr>
            <p:ph idx="1" type="body"/>
          </p:nvPr>
        </p:nvSpPr>
        <p:spPr>
          <a:xfrm>
            <a:off x="720000" y="1187604"/>
            <a:ext cx="7704000" cy="2860500"/>
          </a:xfrm>
          <a:prstGeom prst="rect">
            <a:avLst/>
          </a:prstGeom>
        </p:spPr>
        <p:txBody>
          <a:bodyPr anchorCtr="0" anchor="t" bIns="91425" lIns="91425" spcFirstLastPara="1" rIns="91425" wrap="square" tIns="91425">
            <a:noAutofit/>
          </a:bodyPr>
          <a:lstStyle>
            <a:lvl1pPr indent="-304800" lvl="0" marL="457200" rtl="0">
              <a:lnSpc>
                <a:spcPct val="115000"/>
              </a:lnSpc>
              <a:spcBef>
                <a:spcPts val="0"/>
              </a:spcBef>
              <a:spcAft>
                <a:spcPts val="0"/>
              </a:spcAft>
              <a:buSzPts val="1200"/>
              <a:buFont typeface="Nunito Light"/>
              <a:buChar char="●"/>
              <a:defRPr sz="1400"/>
            </a:lvl1pPr>
            <a:lvl2pPr indent="-304800" lvl="1" marL="914400" rtl="0">
              <a:lnSpc>
                <a:spcPct val="100000"/>
              </a:lnSpc>
              <a:spcBef>
                <a:spcPts val="0"/>
              </a:spcBef>
              <a:spcAft>
                <a:spcPts val="0"/>
              </a:spcAft>
              <a:buSzPts val="1200"/>
              <a:buFont typeface="Nunito Light"/>
              <a:buChar char="○"/>
              <a:defRPr/>
            </a:lvl2pPr>
            <a:lvl3pPr indent="-304800" lvl="2" marL="1371600" rtl="0">
              <a:lnSpc>
                <a:spcPct val="100000"/>
              </a:lnSpc>
              <a:spcBef>
                <a:spcPts val="0"/>
              </a:spcBef>
              <a:spcAft>
                <a:spcPts val="0"/>
              </a:spcAft>
              <a:buSzPts val="1200"/>
              <a:buFont typeface="Nunito Light"/>
              <a:buChar char="■"/>
              <a:defRPr/>
            </a:lvl3pPr>
            <a:lvl4pPr indent="-304800" lvl="3" marL="1828800" rtl="0">
              <a:lnSpc>
                <a:spcPct val="100000"/>
              </a:lnSpc>
              <a:spcBef>
                <a:spcPts val="0"/>
              </a:spcBef>
              <a:spcAft>
                <a:spcPts val="0"/>
              </a:spcAft>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cxnSp>
        <p:nvCxnSpPr>
          <p:cNvPr id="107" name="Google Shape;107;p19"/>
          <p:cNvCxnSpPr/>
          <p:nvPr/>
        </p:nvCxnSpPr>
        <p:spPr>
          <a:xfrm>
            <a:off x="7161050" y="303000"/>
            <a:ext cx="2078700" cy="0"/>
          </a:xfrm>
          <a:prstGeom prst="straightConnector1">
            <a:avLst/>
          </a:prstGeom>
          <a:noFill/>
          <a:ln cap="flat" cmpd="sng" w="9525">
            <a:solidFill>
              <a:schemeClr val="dk1"/>
            </a:solidFill>
            <a:prstDash val="solid"/>
            <a:round/>
            <a:headEnd len="med" w="med" type="none"/>
            <a:tailEnd len="med" w="med" type="none"/>
          </a:ln>
        </p:spPr>
      </p:cxnSp>
      <p:cxnSp>
        <p:nvCxnSpPr>
          <p:cNvPr id="108" name="Google Shape;108;p19"/>
          <p:cNvCxnSpPr/>
          <p:nvPr/>
        </p:nvCxnSpPr>
        <p:spPr>
          <a:xfrm rot="10800000">
            <a:off x="8768625" y="-28312"/>
            <a:ext cx="0" cy="46323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TITLE_AND_BODY_2">
    <p:spTree>
      <p:nvGrpSpPr>
        <p:cNvPr id="109" name="Shape 109"/>
        <p:cNvGrpSpPr/>
        <p:nvPr/>
      </p:nvGrpSpPr>
      <p:grpSpPr>
        <a:xfrm>
          <a:off x="0" y="0"/>
          <a:ext cx="0" cy="0"/>
          <a:chOff x="0" y="0"/>
          <a:chExt cx="0" cy="0"/>
        </a:xfrm>
      </p:grpSpPr>
      <p:sp>
        <p:nvSpPr>
          <p:cNvPr id="110" name="Google Shape;110;p2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11" name="Google Shape;111;p20"/>
          <p:cNvSpPr txBox="1"/>
          <p:nvPr>
            <p:ph idx="1" type="body"/>
          </p:nvPr>
        </p:nvSpPr>
        <p:spPr>
          <a:xfrm>
            <a:off x="720000" y="1187589"/>
            <a:ext cx="7704000" cy="3416400"/>
          </a:xfrm>
          <a:prstGeom prst="rect">
            <a:avLst/>
          </a:prstGeom>
        </p:spPr>
        <p:txBody>
          <a:bodyPr anchorCtr="0" anchor="t" bIns="91425" lIns="91425" spcFirstLastPara="1" rIns="91425" wrap="square" tIns="91425">
            <a:noAutofit/>
          </a:bodyPr>
          <a:lstStyle>
            <a:lvl1pPr indent="-304800" lvl="0" marL="457200" rtl="0">
              <a:lnSpc>
                <a:spcPct val="115000"/>
              </a:lnSpc>
              <a:spcBef>
                <a:spcPts val="300"/>
              </a:spcBef>
              <a:spcAft>
                <a:spcPts val="0"/>
              </a:spcAft>
              <a:buSzPts val="1200"/>
              <a:buFont typeface="Nunito Light"/>
              <a:buChar char="●"/>
              <a:defRPr sz="1400"/>
            </a:lvl1pPr>
            <a:lvl2pPr indent="-304800" lvl="1" marL="914400" rtl="0">
              <a:lnSpc>
                <a:spcPct val="100000"/>
              </a:lnSpc>
              <a:spcBef>
                <a:spcPts val="0"/>
              </a:spcBef>
              <a:spcAft>
                <a:spcPts val="0"/>
              </a:spcAft>
              <a:buSzPts val="1200"/>
              <a:buFont typeface="Nunito Light"/>
              <a:buChar char="○"/>
              <a:defRPr/>
            </a:lvl2pPr>
            <a:lvl3pPr indent="-304800" lvl="2" marL="1371600" rtl="0">
              <a:lnSpc>
                <a:spcPct val="100000"/>
              </a:lnSpc>
              <a:spcBef>
                <a:spcPts val="0"/>
              </a:spcBef>
              <a:spcAft>
                <a:spcPts val="0"/>
              </a:spcAft>
              <a:buSzPts val="1200"/>
              <a:buFont typeface="Nunito Light"/>
              <a:buChar char="■"/>
              <a:defRPr/>
            </a:lvl3pPr>
            <a:lvl4pPr indent="-304800" lvl="3" marL="1828800" rtl="0">
              <a:lnSpc>
                <a:spcPct val="100000"/>
              </a:lnSpc>
              <a:spcBef>
                <a:spcPts val="0"/>
              </a:spcBef>
              <a:spcAft>
                <a:spcPts val="0"/>
              </a:spcAft>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cxnSp>
        <p:nvCxnSpPr>
          <p:cNvPr id="112" name="Google Shape;112;p20"/>
          <p:cNvCxnSpPr/>
          <p:nvPr/>
        </p:nvCxnSpPr>
        <p:spPr>
          <a:xfrm>
            <a:off x="7161050" y="303000"/>
            <a:ext cx="2078700" cy="0"/>
          </a:xfrm>
          <a:prstGeom prst="straightConnector1">
            <a:avLst/>
          </a:prstGeom>
          <a:noFill/>
          <a:ln cap="flat" cmpd="sng" w="9525">
            <a:solidFill>
              <a:schemeClr val="dk1"/>
            </a:solidFill>
            <a:prstDash val="solid"/>
            <a:round/>
            <a:headEnd len="med" w="med" type="none"/>
            <a:tailEnd len="med" w="med" type="none"/>
          </a:ln>
        </p:spPr>
      </p:cxnSp>
      <p:cxnSp>
        <p:nvCxnSpPr>
          <p:cNvPr id="113" name="Google Shape;113;p20"/>
          <p:cNvCxnSpPr/>
          <p:nvPr/>
        </p:nvCxnSpPr>
        <p:spPr>
          <a:xfrm rot="10800000">
            <a:off x="8768625" y="-28312"/>
            <a:ext cx="0" cy="46323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14" name="Shape 114"/>
        <p:cNvGrpSpPr/>
        <p:nvPr/>
      </p:nvGrpSpPr>
      <p:grpSpPr>
        <a:xfrm>
          <a:off x="0" y="0"/>
          <a:ext cx="0" cy="0"/>
          <a:chOff x="0" y="0"/>
          <a:chExt cx="0" cy="0"/>
        </a:xfrm>
      </p:grpSpPr>
      <p:sp>
        <p:nvSpPr>
          <p:cNvPr id="115" name="Google Shape;115;p2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16" name="Google Shape;116;p21"/>
          <p:cNvSpPr txBox="1"/>
          <p:nvPr>
            <p:ph idx="1" type="subTitle"/>
          </p:nvPr>
        </p:nvSpPr>
        <p:spPr>
          <a:xfrm>
            <a:off x="713225" y="3147477"/>
            <a:ext cx="2106900" cy="1350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117" name="Google Shape;117;p21"/>
          <p:cNvSpPr txBox="1"/>
          <p:nvPr>
            <p:ph idx="2" type="subTitle"/>
          </p:nvPr>
        </p:nvSpPr>
        <p:spPr>
          <a:xfrm>
            <a:off x="3074432" y="3147477"/>
            <a:ext cx="2106900" cy="1350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118" name="Google Shape;118;p21"/>
          <p:cNvSpPr txBox="1"/>
          <p:nvPr>
            <p:ph idx="3" type="subTitle"/>
          </p:nvPr>
        </p:nvSpPr>
        <p:spPr>
          <a:xfrm>
            <a:off x="5435639" y="3147479"/>
            <a:ext cx="2106900" cy="1350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119" name="Google Shape;119;p21"/>
          <p:cNvSpPr txBox="1"/>
          <p:nvPr>
            <p:ph idx="4" type="subTitle"/>
          </p:nvPr>
        </p:nvSpPr>
        <p:spPr>
          <a:xfrm>
            <a:off x="713225" y="2494475"/>
            <a:ext cx="2106900" cy="7455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000">
                <a:solidFill>
                  <a:schemeClr val="dk1"/>
                </a:solidFill>
                <a:latin typeface="Playfair Display Medium"/>
                <a:ea typeface="Playfair Display Medium"/>
                <a:cs typeface="Playfair Display Medium"/>
                <a:sym typeface="Playfair Display Medium"/>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20" name="Google Shape;120;p21"/>
          <p:cNvSpPr txBox="1"/>
          <p:nvPr>
            <p:ph idx="5" type="subTitle"/>
          </p:nvPr>
        </p:nvSpPr>
        <p:spPr>
          <a:xfrm>
            <a:off x="3074433" y="2494475"/>
            <a:ext cx="2106900" cy="7455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000">
                <a:solidFill>
                  <a:schemeClr val="dk1"/>
                </a:solidFill>
                <a:latin typeface="Playfair Display Medium"/>
                <a:ea typeface="Playfair Display Medium"/>
                <a:cs typeface="Playfair Display Medium"/>
                <a:sym typeface="Playfair Display Medium"/>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21" name="Google Shape;121;p21"/>
          <p:cNvSpPr txBox="1"/>
          <p:nvPr>
            <p:ph idx="6" type="subTitle"/>
          </p:nvPr>
        </p:nvSpPr>
        <p:spPr>
          <a:xfrm>
            <a:off x="5435634" y="2494475"/>
            <a:ext cx="2106900" cy="7455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000">
                <a:solidFill>
                  <a:schemeClr val="dk1"/>
                </a:solidFill>
                <a:latin typeface="Playfair Display Medium"/>
                <a:ea typeface="Playfair Display Medium"/>
                <a:cs typeface="Playfair Display Medium"/>
                <a:sym typeface="Playfair Display Medium"/>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cxnSp>
        <p:nvCxnSpPr>
          <p:cNvPr id="122" name="Google Shape;122;p21"/>
          <p:cNvCxnSpPr/>
          <p:nvPr/>
        </p:nvCxnSpPr>
        <p:spPr>
          <a:xfrm>
            <a:off x="7161050" y="303000"/>
            <a:ext cx="2078700" cy="0"/>
          </a:xfrm>
          <a:prstGeom prst="straightConnector1">
            <a:avLst/>
          </a:prstGeom>
          <a:noFill/>
          <a:ln cap="flat" cmpd="sng" w="9525">
            <a:solidFill>
              <a:schemeClr val="dk1"/>
            </a:solidFill>
            <a:prstDash val="solid"/>
            <a:round/>
            <a:headEnd len="med" w="med" type="none"/>
            <a:tailEnd len="med" w="med" type="none"/>
          </a:ln>
        </p:spPr>
      </p:cxnSp>
      <p:cxnSp>
        <p:nvCxnSpPr>
          <p:cNvPr id="123" name="Google Shape;123;p21"/>
          <p:cNvCxnSpPr/>
          <p:nvPr/>
        </p:nvCxnSpPr>
        <p:spPr>
          <a:xfrm rot="10800000">
            <a:off x="8768625" y="-28312"/>
            <a:ext cx="0" cy="46323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24" name="Shape 124"/>
        <p:cNvGrpSpPr/>
        <p:nvPr/>
      </p:nvGrpSpPr>
      <p:grpSpPr>
        <a:xfrm>
          <a:off x="0" y="0"/>
          <a:ext cx="0" cy="0"/>
          <a:chOff x="0" y="0"/>
          <a:chExt cx="0" cy="0"/>
        </a:xfrm>
      </p:grpSpPr>
      <p:sp>
        <p:nvSpPr>
          <p:cNvPr id="125" name="Google Shape;125;p2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26" name="Google Shape;126;p22"/>
          <p:cNvSpPr txBox="1"/>
          <p:nvPr>
            <p:ph idx="1" type="subTitle"/>
          </p:nvPr>
        </p:nvSpPr>
        <p:spPr>
          <a:xfrm>
            <a:off x="720000" y="1945660"/>
            <a:ext cx="2811000" cy="1088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127" name="Google Shape;127;p22"/>
          <p:cNvSpPr txBox="1"/>
          <p:nvPr>
            <p:ph idx="2" type="subTitle"/>
          </p:nvPr>
        </p:nvSpPr>
        <p:spPr>
          <a:xfrm>
            <a:off x="4546553" y="1945654"/>
            <a:ext cx="2904600" cy="1088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128" name="Google Shape;128;p22"/>
          <p:cNvSpPr txBox="1"/>
          <p:nvPr>
            <p:ph idx="3" type="subTitle"/>
          </p:nvPr>
        </p:nvSpPr>
        <p:spPr>
          <a:xfrm>
            <a:off x="720000" y="3515588"/>
            <a:ext cx="2811000" cy="1088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129" name="Google Shape;129;p22"/>
          <p:cNvSpPr txBox="1"/>
          <p:nvPr>
            <p:ph idx="4" type="subTitle"/>
          </p:nvPr>
        </p:nvSpPr>
        <p:spPr>
          <a:xfrm>
            <a:off x="4546551" y="3515588"/>
            <a:ext cx="2904600" cy="1088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130" name="Google Shape;130;p22"/>
          <p:cNvSpPr txBox="1"/>
          <p:nvPr>
            <p:ph idx="5" type="subTitle"/>
          </p:nvPr>
        </p:nvSpPr>
        <p:spPr>
          <a:xfrm>
            <a:off x="719999" y="1666404"/>
            <a:ext cx="28110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000">
                <a:solidFill>
                  <a:schemeClr val="dk1"/>
                </a:solidFill>
                <a:latin typeface="Playfair Display Medium"/>
                <a:ea typeface="Playfair Display Medium"/>
                <a:cs typeface="Playfair Display Medium"/>
                <a:sym typeface="Playfair Display Medium"/>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31" name="Google Shape;131;p22"/>
          <p:cNvSpPr txBox="1"/>
          <p:nvPr>
            <p:ph idx="6" type="subTitle"/>
          </p:nvPr>
        </p:nvSpPr>
        <p:spPr>
          <a:xfrm>
            <a:off x="719999" y="3236407"/>
            <a:ext cx="28110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000">
                <a:solidFill>
                  <a:schemeClr val="dk1"/>
                </a:solidFill>
                <a:latin typeface="Playfair Display Medium"/>
                <a:ea typeface="Playfair Display Medium"/>
                <a:cs typeface="Playfair Display Medium"/>
                <a:sym typeface="Playfair Display Medium"/>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32" name="Google Shape;132;p22"/>
          <p:cNvSpPr txBox="1"/>
          <p:nvPr>
            <p:ph idx="7" type="subTitle"/>
          </p:nvPr>
        </p:nvSpPr>
        <p:spPr>
          <a:xfrm>
            <a:off x="4546525" y="1666400"/>
            <a:ext cx="29046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000">
                <a:solidFill>
                  <a:schemeClr val="dk1"/>
                </a:solidFill>
                <a:latin typeface="Playfair Display Medium"/>
                <a:ea typeface="Playfair Display Medium"/>
                <a:cs typeface="Playfair Display Medium"/>
                <a:sym typeface="Playfair Display Medium"/>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33" name="Google Shape;133;p22"/>
          <p:cNvSpPr txBox="1"/>
          <p:nvPr>
            <p:ph idx="8" type="subTitle"/>
          </p:nvPr>
        </p:nvSpPr>
        <p:spPr>
          <a:xfrm>
            <a:off x="4546525" y="3236407"/>
            <a:ext cx="29046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000">
                <a:solidFill>
                  <a:schemeClr val="dk1"/>
                </a:solidFill>
                <a:latin typeface="Playfair Display Medium"/>
                <a:ea typeface="Playfair Display Medium"/>
                <a:cs typeface="Playfair Display Medium"/>
                <a:sym typeface="Playfair Display Medium"/>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cxnSp>
        <p:nvCxnSpPr>
          <p:cNvPr id="134" name="Google Shape;134;p22"/>
          <p:cNvCxnSpPr/>
          <p:nvPr/>
        </p:nvCxnSpPr>
        <p:spPr>
          <a:xfrm>
            <a:off x="7161050" y="303000"/>
            <a:ext cx="2078700" cy="0"/>
          </a:xfrm>
          <a:prstGeom prst="straightConnector1">
            <a:avLst/>
          </a:prstGeom>
          <a:noFill/>
          <a:ln cap="flat" cmpd="sng" w="9525">
            <a:solidFill>
              <a:schemeClr val="dk1"/>
            </a:solidFill>
            <a:prstDash val="solid"/>
            <a:round/>
            <a:headEnd len="med" w="med" type="none"/>
            <a:tailEnd len="med" w="med" type="none"/>
          </a:ln>
        </p:spPr>
      </p:cxnSp>
      <p:cxnSp>
        <p:nvCxnSpPr>
          <p:cNvPr id="135" name="Google Shape;135;p22"/>
          <p:cNvCxnSpPr/>
          <p:nvPr/>
        </p:nvCxnSpPr>
        <p:spPr>
          <a:xfrm rot="10800000">
            <a:off x="8768625" y="-28312"/>
            <a:ext cx="0" cy="46323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136" name="Shape 136"/>
        <p:cNvGrpSpPr/>
        <p:nvPr/>
      </p:nvGrpSpPr>
      <p:grpSpPr>
        <a:xfrm>
          <a:off x="0" y="0"/>
          <a:ext cx="0" cy="0"/>
          <a:chOff x="0" y="0"/>
          <a:chExt cx="0" cy="0"/>
        </a:xfrm>
      </p:grpSpPr>
      <p:sp>
        <p:nvSpPr>
          <p:cNvPr id="137" name="Google Shape;137;p2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38" name="Google Shape;138;p23"/>
          <p:cNvSpPr txBox="1"/>
          <p:nvPr>
            <p:ph idx="1" type="subTitle"/>
          </p:nvPr>
        </p:nvSpPr>
        <p:spPr>
          <a:xfrm>
            <a:off x="720025" y="1867400"/>
            <a:ext cx="2469300" cy="1059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139" name="Google Shape;139;p23"/>
          <p:cNvSpPr txBox="1"/>
          <p:nvPr>
            <p:ph idx="2" type="subTitle"/>
          </p:nvPr>
        </p:nvSpPr>
        <p:spPr>
          <a:xfrm>
            <a:off x="3282145" y="1867410"/>
            <a:ext cx="2579700" cy="1059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140" name="Google Shape;140;p23"/>
          <p:cNvSpPr txBox="1"/>
          <p:nvPr>
            <p:ph idx="3" type="subTitle"/>
          </p:nvPr>
        </p:nvSpPr>
        <p:spPr>
          <a:xfrm>
            <a:off x="720025" y="3544702"/>
            <a:ext cx="2469300" cy="1059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141" name="Google Shape;141;p23"/>
          <p:cNvSpPr txBox="1"/>
          <p:nvPr>
            <p:ph idx="4" type="subTitle"/>
          </p:nvPr>
        </p:nvSpPr>
        <p:spPr>
          <a:xfrm>
            <a:off x="3282155" y="3544703"/>
            <a:ext cx="2579700" cy="1059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142" name="Google Shape;142;p23"/>
          <p:cNvSpPr txBox="1"/>
          <p:nvPr>
            <p:ph idx="5" type="subTitle"/>
          </p:nvPr>
        </p:nvSpPr>
        <p:spPr>
          <a:xfrm>
            <a:off x="5954680" y="1867406"/>
            <a:ext cx="2469300" cy="1059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143" name="Google Shape;143;p23"/>
          <p:cNvSpPr txBox="1"/>
          <p:nvPr>
            <p:ph idx="6" type="subTitle"/>
          </p:nvPr>
        </p:nvSpPr>
        <p:spPr>
          <a:xfrm>
            <a:off x="5954699" y="3544702"/>
            <a:ext cx="2469300" cy="1059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144" name="Google Shape;144;p23"/>
          <p:cNvSpPr txBox="1"/>
          <p:nvPr>
            <p:ph idx="7" type="subTitle"/>
          </p:nvPr>
        </p:nvSpPr>
        <p:spPr>
          <a:xfrm>
            <a:off x="720025" y="1305419"/>
            <a:ext cx="2469300" cy="671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000">
                <a:solidFill>
                  <a:schemeClr val="dk1"/>
                </a:solidFill>
                <a:latin typeface="Playfair Display Medium"/>
                <a:ea typeface="Playfair Display Medium"/>
                <a:cs typeface="Playfair Display Medium"/>
                <a:sym typeface="Playfair Display Medium"/>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45" name="Google Shape;145;p23"/>
          <p:cNvSpPr txBox="1"/>
          <p:nvPr>
            <p:ph idx="8" type="subTitle"/>
          </p:nvPr>
        </p:nvSpPr>
        <p:spPr>
          <a:xfrm>
            <a:off x="3282145" y="1305419"/>
            <a:ext cx="2577300" cy="671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000">
                <a:solidFill>
                  <a:schemeClr val="dk1"/>
                </a:solidFill>
                <a:latin typeface="Playfair Display Medium"/>
                <a:ea typeface="Playfair Display Medium"/>
                <a:cs typeface="Playfair Display Medium"/>
                <a:sym typeface="Playfair Display Medium"/>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46" name="Google Shape;146;p23"/>
          <p:cNvSpPr txBox="1"/>
          <p:nvPr>
            <p:ph idx="9" type="subTitle"/>
          </p:nvPr>
        </p:nvSpPr>
        <p:spPr>
          <a:xfrm>
            <a:off x="5954680" y="1305419"/>
            <a:ext cx="2466900" cy="671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000">
                <a:solidFill>
                  <a:schemeClr val="dk1"/>
                </a:solidFill>
                <a:latin typeface="Playfair Display Medium"/>
                <a:ea typeface="Playfair Display Medium"/>
                <a:cs typeface="Playfair Display Medium"/>
                <a:sym typeface="Playfair Display Medium"/>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47" name="Google Shape;147;p23"/>
          <p:cNvSpPr txBox="1"/>
          <p:nvPr>
            <p:ph idx="13" type="subTitle"/>
          </p:nvPr>
        </p:nvSpPr>
        <p:spPr>
          <a:xfrm>
            <a:off x="720025" y="2985210"/>
            <a:ext cx="2469300" cy="671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000">
                <a:solidFill>
                  <a:schemeClr val="dk1"/>
                </a:solidFill>
                <a:latin typeface="Playfair Display Medium"/>
                <a:ea typeface="Playfair Display Medium"/>
                <a:cs typeface="Playfair Display Medium"/>
                <a:sym typeface="Playfair Display Medium"/>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48" name="Google Shape;148;p23"/>
          <p:cNvSpPr txBox="1"/>
          <p:nvPr>
            <p:ph idx="14" type="subTitle"/>
          </p:nvPr>
        </p:nvSpPr>
        <p:spPr>
          <a:xfrm>
            <a:off x="3282145" y="2985206"/>
            <a:ext cx="2577300" cy="671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000">
                <a:solidFill>
                  <a:schemeClr val="dk1"/>
                </a:solidFill>
                <a:latin typeface="Playfair Display Medium"/>
                <a:ea typeface="Playfair Display Medium"/>
                <a:cs typeface="Playfair Display Medium"/>
                <a:sym typeface="Playfair Display Medium"/>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49" name="Google Shape;149;p23"/>
          <p:cNvSpPr txBox="1"/>
          <p:nvPr>
            <p:ph idx="15" type="subTitle"/>
          </p:nvPr>
        </p:nvSpPr>
        <p:spPr>
          <a:xfrm>
            <a:off x="5954680" y="2985200"/>
            <a:ext cx="2469300" cy="671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000">
                <a:solidFill>
                  <a:schemeClr val="dk1"/>
                </a:solidFill>
                <a:latin typeface="Playfair Display Medium"/>
                <a:ea typeface="Playfair Display Medium"/>
                <a:cs typeface="Playfair Display Medium"/>
                <a:sym typeface="Playfair Display Medium"/>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cxnSp>
        <p:nvCxnSpPr>
          <p:cNvPr id="150" name="Google Shape;150;p23"/>
          <p:cNvCxnSpPr/>
          <p:nvPr/>
        </p:nvCxnSpPr>
        <p:spPr>
          <a:xfrm>
            <a:off x="7161050" y="303000"/>
            <a:ext cx="2078700" cy="0"/>
          </a:xfrm>
          <a:prstGeom prst="straightConnector1">
            <a:avLst/>
          </a:prstGeom>
          <a:noFill/>
          <a:ln cap="flat" cmpd="sng" w="9525">
            <a:solidFill>
              <a:schemeClr val="dk1"/>
            </a:solidFill>
            <a:prstDash val="solid"/>
            <a:round/>
            <a:headEnd len="med" w="med" type="none"/>
            <a:tailEnd len="med" w="med" type="none"/>
          </a:ln>
        </p:spPr>
      </p:cxnSp>
      <p:cxnSp>
        <p:nvCxnSpPr>
          <p:cNvPr id="151" name="Google Shape;151;p23"/>
          <p:cNvCxnSpPr/>
          <p:nvPr/>
        </p:nvCxnSpPr>
        <p:spPr>
          <a:xfrm rot="10800000">
            <a:off x="8768625" y="-28312"/>
            <a:ext cx="0" cy="46323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152" name="Shape 152"/>
        <p:cNvGrpSpPr/>
        <p:nvPr/>
      </p:nvGrpSpPr>
      <p:grpSpPr>
        <a:xfrm>
          <a:off x="0" y="0"/>
          <a:ext cx="0" cy="0"/>
          <a:chOff x="0" y="0"/>
          <a:chExt cx="0" cy="0"/>
        </a:xfrm>
      </p:grpSpPr>
      <p:sp>
        <p:nvSpPr>
          <p:cNvPr id="153" name="Google Shape;153;p24"/>
          <p:cNvSpPr txBox="1"/>
          <p:nvPr>
            <p:ph type="title"/>
          </p:nvPr>
        </p:nvSpPr>
        <p:spPr>
          <a:xfrm>
            <a:off x="734825" y="2908025"/>
            <a:ext cx="3108300" cy="7254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sz="37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54" name="Google Shape;154;p24"/>
          <p:cNvSpPr txBox="1"/>
          <p:nvPr>
            <p:ph idx="1" type="subTitle"/>
          </p:nvPr>
        </p:nvSpPr>
        <p:spPr>
          <a:xfrm>
            <a:off x="734825" y="3543900"/>
            <a:ext cx="3108300" cy="913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cxnSp>
        <p:nvCxnSpPr>
          <p:cNvPr id="155" name="Google Shape;155;p24"/>
          <p:cNvCxnSpPr/>
          <p:nvPr/>
        </p:nvCxnSpPr>
        <p:spPr>
          <a:xfrm>
            <a:off x="3167225" y="539500"/>
            <a:ext cx="6072600" cy="0"/>
          </a:xfrm>
          <a:prstGeom prst="straightConnector1">
            <a:avLst/>
          </a:prstGeom>
          <a:noFill/>
          <a:ln cap="flat" cmpd="sng" w="9525">
            <a:solidFill>
              <a:schemeClr val="dk1"/>
            </a:solidFill>
            <a:prstDash val="solid"/>
            <a:round/>
            <a:headEnd len="med" w="med" type="none"/>
            <a:tailEnd len="med" w="med" type="none"/>
          </a:ln>
        </p:spPr>
      </p:cxnSp>
      <p:cxnSp>
        <p:nvCxnSpPr>
          <p:cNvPr id="156" name="Google Shape;156;p24"/>
          <p:cNvCxnSpPr/>
          <p:nvPr/>
        </p:nvCxnSpPr>
        <p:spPr>
          <a:xfrm rot="10800000">
            <a:off x="8430775" y="-28312"/>
            <a:ext cx="0" cy="4632300"/>
          </a:xfrm>
          <a:prstGeom prst="straightConnector1">
            <a:avLst/>
          </a:prstGeom>
          <a:noFill/>
          <a:ln cap="flat" cmpd="sng" w="9525">
            <a:solidFill>
              <a:schemeClr val="dk1"/>
            </a:solidFill>
            <a:prstDash val="solid"/>
            <a:round/>
            <a:headEnd len="med" w="med" type="none"/>
            <a:tailEnd len="med" w="med" type="none"/>
          </a:ln>
        </p:spPr>
      </p:cxnSp>
      <p:sp>
        <p:nvSpPr>
          <p:cNvPr id="157" name="Google Shape;157;p24"/>
          <p:cNvSpPr txBox="1"/>
          <p:nvPr/>
        </p:nvSpPr>
        <p:spPr>
          <a:xfrm>
            <a:off x="4050875" y="3730325"/>
            <a:ext cx="4254000" cy="5562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en" sz="1000">
                <a:solidFill>
                  <a:schemeClr val="dk1"/>
                </a:solidFill>
                <a:latin typeface="DM Sans"/>
                <a:ea typeface="DM Sans"/>
                <a:cs typeface="DM Sans"/>
                <a:sym typeface="DM Sans"/>
              </a:rPr>
              <a:t>CREDITS:</a:t>
            </a:r>
            <a:r>
              <a:rPr lang="en" sz="1000">
                <a:solidFill>
                  <a:schemeClr val="dk1"/>
                </a:solidFill>
                <a:latin typeface="DM Sans"/>
                <a:ea typeface="DM Sans"/>
                <a:cs typeface="DM Sans"/>
                <a:sym typeface="DM Sans"/>
              </a:rPr>
              <a:t> This presentation template was created by </a:t>
            </a:r>
            <a:r>
              <a:rPr b="1" lang="en" sz="1000" u="sng">
                <a:solidFill>
                  <a:schemeClr val="dk1"/>
                </a:solidFill>
                <a:latin typeface="DM Sans"/>
                <a:ea typeface="DM Sans"/>
                <a:cs typeface="DM Sans"/>
                <a:sym typeface="DM Sans"/>
                <a:hlinkClick r:id="rId2">
                  <a:extLst>
                    <a:ext uri="{A12FA001-AC4F-418D-AE19-62706E023703}">
                      <ahyp:hlinkClr val="tx"/>
                    </a:ext>
                  </a:extLst>
                </a:hlinkClick>
              </a:rPr>
              <a:t>Slidesgo</a:t>
            </a:r>
            <a:r>
              <a:rPr lang="en" sz="1000">
                <a:solidFill>
                  <a:schemeClr val="dk1"/>
                </a:solidFill>
                <a:latin typeface="DM Sans"/>
                <a:ea typeface="DM Sans"/>
                <a:cs typeface="DM Sans"/>
                <a:sym typeface="DM Sans"/>
              </a:rPr>
              <a:t>, and includes icons by </a:t>
            </a:r>
            <a:r>
              <a:rPr b="1" lang="en" sz="1000" u="sng">
                <a:solidFill>
                  <a:schemeClr val="dk1"/>
                </a:solidFill>
                <a:latin typeface="DM Sans"/>
                <a:ea typeface="DM Sans"/>
                <a:cs typeface="DM Sans"/>
                <a:sym typeface="DM Sans"/>
                <a:hlinkClick r:id="rId3">
                  <a:extLst>
                    <a:ext uri="{A12FA001-AC4F-418D-AE19-62706E023703}">
                      <ahyp:hlinkClr val="tx"/>
                    </a:ext>
                  </a:extLst>
                </a:hlinkClick>
              </a:rPr>
              <a:t>Flaticon</a:t>
            </a:r>
            <a:r>
              <a:rPr lang="en" sz="1000">
                <a:solidFill>
                  <a:schemeClr val="dk1"/>
                </a:solidFill>
                <a:latin typeface="DM Sans"/>
                <a:ea typeface="DM Sans"/>
                <a:cs typeface="DM Sans"/>
                <a:sym typeface="DM Sans"/>
              </a:rPr>
              <a:t>, and infographics &amp; images by </a:t>
            </a:r>
            <a:r>
              <a:rPr b="1" lang="en" sz="1000" u="sng">
                <a:solidFill>
                  <a:schemeClr val="dk1"/>
                </a:solidFill>
                <a:latin typeface="DM Sans"/>
                <a:ea typeface="DM Sans"/>
                <a:cs typeface="DM Sans"/>
                <a:sym typeface="DM Sans"/>
                <a:hlinkClick r:id="rId4">
                  <a:extLst>
                    <a:ext uri="{A12FA001-AC4F-418D-AE19-62706E023703}">
                      <ahyp:hlinkClr val="tx"/>
                    </a:ext>
                  </a:extLst>
                </a:hlinkClick>
              </a:rPr>
              <a:t>Freepik</a:t>
            </a:r>
            <a:r>
              <a:rPr lang="en" sz="1000" u="sng">
                <a:solidFill>
                  <a:schemeClr val="dk1"/>
                </a:solidFill>
                <a:latin typeface="DM Sans"/>
                <a:ea typeface="DM Sans"/>
                <a:cs typeface="DM Sans"/>
                <a:sym typeface="DM Sans"/>
              </a:rPr>
              <a:t> </a:t>
            </a:r>
            <a:endParaRPr b="1" sz="1000" u="sng">
              <a:solidFill>
                <a:schemeClr val="dk1"/>
              </a:solidFill>
              <a:latin typeface="DM Sans"/>
              <a:ea typeface="DM Sans"/>
              <a:cs typeface="DM Sans"/>
              <a:sym typeface="DM San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58" name="Shape 158"/>
        <p:cNvGrpSpPr/>
        <p:nvPr/>
      </p:nvGrpSpPr>
      <p:grpSpPr>
        <a:xfrm>
          <a:off x="0" y="0"/>
          <a:ext cx="0" cy="0"/>
          <a:chOff x="0" y="0"/>
          <a:chExt cx="0" cy="0"/>
        </a:xfrm>
      </p:grpSpPr>
      <p:cxnSp>
        <p:nvCxnSpPr>
          <p:cNvPr id="159" name="Google Shape;159;p25"/>
          <p:cNvCxnSpPr/>
          <p:nvPr/>
        </p:nvCxnSpPr>
        <p:spPr>
          <a:xfrm>
            <a:off x="7161050" y="303000"/>
            <a:ext cx="2078700" cy="0"/>
          </a:xfrm>
          <a:prstGeom prst="straightConnector1">
            <a:avLst/>
          </a:prstGeom>
          <a:noFill/>
          <a:ln cap="flat" cmpd="sng" w="9525">
            <a:solidFill>
              <a:schemeClr val="dk1"/>
            </a:solidFill>
            <a:prstDash val="solid"/>
            <a:round/>
            <a:headEnd len="med" w="med" type="none"/>
            <a:tailEnd len="med" w="med" type="none"/>
          </a:ln>
        </p:spPr>
      </p:cxnSp>
      <p:cxnSp>
        <p:nvCxnSpPr>
          <p:cNvPr id="160" name="Google Shape;160;p25"/>
          <p:cNvCxnSpPr/>
          <p:nvPr/>
        </p:nvCxnSpPr>
        <p:spPr>
          <a:xfrm rot="10800000">
            <a:off x="8768625" y="-28312"/>
            <a:ext cx="0" cy="46323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161" name="Shape 161"/>
        <p:cNvGrpSpPr/>
        <p:nvPr/>
      </p:nvGrpSpPr>
      <p:grpSpPr>
        <a:xfrm>
          <a:off x="0" y="0"/>
          <a:ext cx="0" cy="0"/>
          <a:chOff x="0" y="0"/>
          <a:chExt cx="0" cy="0"/>
        </a:xfrm>
      </p:grpSpPr>
      <p:cxnSp>
        <p:nvCxnSpPr>
          <p:cNvPr id="162" name="Google Shape;162;p26"/>
          <p:cNvCxnSpPr/>
          <p:nvPr/>
        </p:nvCxnSpPr>
        <p:spPr>
          <a:xfrm>
            <a:off x="3167225" y="539500"/>
            <a:ext cx="6072600" cy="0"/>
          </a:xfrm>
          <a:prstGeom prst="straightConnector1">
            <a:avLst/>
          </a:prstGeom>
          <a:noFill/>
          <a:ln cap="flat" cmpd="sng" w="9525">
            <a:solidFill>
              <a:schemeClr val="dk1"/>
            </a:solidFill>
            <a:prstDash val="solid"/>
            <a:round/>
            <a:headEnd len="med" w="med" type="none"/>
            <a:tailEnd len="med" w="med" type="none"/>
          </a:ln>
        </p:spPr>
      </p:cxnSp>
      <p:cxnSp>
        <p:nvCxnSpPr>
          <p:cNvPr id="163" name="Google Shape;163;p26"/>
          <p:cNvCxnSpPr/>
          <p:nvPr/>
        </p:nvCxnSpPr>
        <p:spPr>
          <a:xfrm rot="10800000">
            <a:off x="8430775" y="-28312"/>
            <a:ext cx="0" cy="46323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theme" Target="../theme/theme1.xml"/><Relationship Id="rId25" Type="http://schemas.openxmlformats.org/officeDocument/2006/relationships/slideLayout" Target="../slideLayouts/slideLayout25.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Font typeface="Playfair Display Medium"/>
              <a:buNone/>
              <a:defRPr sz="2800">
                <a:solidFill>
                  <a:schemeClr val="dk1"/>
                </a:solidFill>
                <a:latin typeface="Playfair Display Medium"/>
                <a:ea typeface="Playfair Display Medium"/>
                <a:cs typeface="Playfair Display Medium"/>
                <a:sym typeface="Playfair Display Medium"/>
              </a:defRPr>
            </a:lvl1pPr>
            <a:lvl2pPr lvl="1" rtl="0">
              <a:spcBef>
                <a:spcPts val="0"/>
              </a:spcBef>
              <a:spcAft>
                <a:spcPts val="0"/>
              </a:spcAft>
              <a:buClr>
                <a:schemeClr val="dk1"/>
              </a:buClr>
              <a:buSzPts val="3000"/>
              <a:buFont typeface="Playfair Display"/>
              <a:buNone/>
              <a:defRPr b="1" sz="3000">
                <a:solidFill>
                  <a:schemeClr val="dk1"/>
                </a:solidFill>
                <a:latin typeface="Playfair Display"/>
                <a:ea typeface="Playfair Display"/>
                <a:cs typeface="Playfair Display"/>
                <a:sym typeface="Playfair Display"/>
              </a:defRPr>
            </a:lvl2pPr>
            <a:lvl3pPr lvl="2" rtl="0">
              <a:spcBef>
                <a:spcPts val="0"/>
              </a:spcBef>
              <a:spcAft>
                <a:spcPts val="0"/>
              </a:spcAft>
              <a:buClr>
                <a:schemeClr val="dk1"/>
              </a:buClr>
              <a:buSzPts val="3000"/>
              <a:buFont typeface="Playfair Display"/>
              <a:buNone/>
              <a:defRPr b="1" sz="3000">
                <a:solidFill>
                  <a:schemeClr val="dk1"/>
                </a:solidFill>
                <a:latin typeface="Playfair Display"/>
                <a:ea typeface="Playfair Display"/>
                <a:cs typeface="Playfair Display"/>
                <a:sym typeface="Playfair Display"/>
              </a:defRPr>
            </a:lvl3pPr>
            <a:lvl4pPr lvl="3" rtl="0">
              <a:spcBef>
                <a:spcPts val="0"/>
              </a:spcBef>
              <a:spcAft>
                <a:spcPts val="0"/>
              </a:spcAft>
              <a:buClr>
                <a:schemeClr val="dk1"/>
              </a:buClr>
              <a:buSzPts val="3000"/>
              <a:buFont typeface="Playfair Display"/>
              <a:buNone/>
              <a:defRPr b="1" sz="3000">
                <a:solidFill>
                  <a:schemeClr val="dk1"/>
                </a:solidFill>
                <a:latin typeface="Playfair Display"/>
                <a:ea typeface="Playfair Display"/>
                <a:cs typeface="Playfair Display"/>
                <a:sym typeface="Playfair Display"/>
              </a:defRPr>
            </a:lvl4pPr>
            <a:lvl5pPr lvl="4" rtl="0">
              <a:spcBef>
                <a:spcPts val="0"/>
              </a:spcBef>
              <a:spcAft>
                <a:spcPts val="0"/>
              </a:spcAft>
              <a:buClr>
                <a:schemeClr val="dk1"/>
              </a:buClr>
              <a:buSzPts val="3000"/>
              <a:buFont typeface="Playfair Display"/>
              <a:buNone/>
              <a:defRPr b="1" sz="3000">
                <a:solidFill>
                  <a:schemeClr val="dk1"/>
                </a:solidFill>
                <a:latin typeface="Playfair Display"/>
                <a:ea typeface="Playfair Display"/>
                <a:cs typeface="Playfair Display"/>
                <a:sym typeface="Playfair Display"/>
              </a:defRPr>
            </a:lvl5pPr>
            <a:lvl6pPr lvl="5" rtl="0">
              <a:spcBef>
                <a:spcPts val="0"/>
              </a:spcBef>
              <a:spcAft>
                <a:spcPts val="0"/>
              </a:spcAft>
              <a:buClr>
                <a:schemeClr val="dk1"/>
              </a:buClr>
              <a:buSzPts val="3000"/>
              <a:buFont typeface="Playfair Display"/>
              <a:buNone/>
              <a:defRPr b="1" sz="3000">
                <a:solidFill>
                  <a:schemeClr val="dk1"/>
                </a:solidFill>
                <a:latin typeface="Playfair Display"/>
                <a:ea typeface="Playfair Display"/>
                <a:cs typeface="Playfair Display"/>
                <a:sym typeface="Playfair Display"/>
              </a:defRPr>
            </a:lvl6pPr>
            <a:lvl7pPr lvl="6" rtl="0">
              <a:spcBef>
                <a:spcPts val="0"/>
              </a:spcBef>
              <a:spcAft>
                <a:spcPts val="0"/>
              </a:spcAft>
              <a:buClr>
                <a:schemeClr val="dk1"/>
              </a:buClr>
              <a:buSzPts val="3000"/>
              <a:buFont typeface="Playfair Display"/>
              <a:buNone/>
              <a:defRPr b="1" sz="3000">
                <a:solidFill>
                  <a:schemeClr val="dk1"/>
                </a:solidFill>
                <a:latin typeface="Playfair Display"/>
                <a:ea typeface="Playfair Display"/>
                <a:cs typeface="Playfair Display"/>
                <a:sym typeface="Playfair Display"/>
              </a:defRPr>
            </a:lvl7pPr>
            <a:lvl8pPr lvl="7" rtl="0">
              <a:spcBef>
                <a:spcPts val="0"/>
              </a:spcBef>
              <a:spcAft>
                <a:spcPts val="0"/>
              </a:spcAft>
              <a:buClr>
                <a:schemeClr val="dk1"/>
              </a:buClr>
              <a:buSzPts val="3000"/>
              <a:buFont typeface="Playfair Display"/>
              <a:buNone/>
              <a:defRPr b="1" sz="3000">
                <a:solidFill>
                  <a:schemeClr val="dk1"/>
                </a:solidFill>
                <a:latin typeface="Playfair Display"/>
                <a:ea typeface="Playfair Display"/>
                <a:cs typeface="Playfair Display"/>
                <a:sym typeface="Playfair Display"/>
              </a:defRPr>
            </a:lvl8pPr>
            <a:lvl9pPr lvl="8" rtl="0">
              <a:spcBef>
                <a:spcPts val="0"/>
              </a:spcBef>
              <a:spcAft>
                <a:spcPts val="0"/>
              </a:spcAft>
              <a:buClr>
                <a:schemeClr val="dk1"/>
              </a:buClr>
              <a:buSzPts val="3000"/>
              <a:buFont typeface="Playfair Display"/>
              <a:buNone/>
              <a:defRPr b="1" sz="3000">
                <a:solidFill>
                  <a:schemeClr val="dk1"/>
                </a:solidFill>
                <a:latin typeface="Playfair Display"/>
                <a:ea typeface="Playfair Display"/>
                <a:cs typeface="Playfair Display"/>
                <a:sym typeface="Playfair Display"/>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1pPr>
            <a:lvl2pPr indent="-304800" lvl="1" marL="914400">
              <a:lnSpc>
                <a:spcPct val="100000"/>
              </a:lnSpc>
              <a:spcBef>
                <a:spcPts val="1600"/>
              </a:spcBef>
              <a:spcAft>
                <a:spcPts val="0"/>
              </a:spcAft>
              <a:buClr>
                <a:schemeClr val="dk1"/>
              </a:buClr>
              <a:buSzPts val="1200"/>
              <a:buFont typeface="DM Sans"/>
              <a:buChar char="○"/>
              <a:defRPr sz="1200">
                <a:solidFill>
                  <a:schemeClr val="dk1"/>
                </a:solidFill>
                <a:latin typeface="DM Sans"/>
                <a:ea typeface="DM Sans"/>
                <a:cs typeface="DM Sans"/>
                <a:sym typeface="DM Sans"/>
              </a:defRPr>
            </a:lvl2pPr>
            <a:lvl3pPr indent="-304800" lvl="2" marL="1371600">
              <a:lnSpc>
                <a:spcPct val="100000"/>
              </a:lnSpc>
              <a:spcBef>
                <a:spcPts val="1600"/>
              </a:spcBef>
              <a:spcAft>
                <a:spcPts val="0"/>
              </a:spcAft>
              <a:buClr>
                <a:schemeClr val="dk1"/>
              </a:buClr>
              <a:buSzPts val="1200"/>
              <a:buFont typeface="DM Sans"/>
              <a:buChar char="■"/>
              <a:defRPr sz="1200">
                <a:solidFill>
                  <a:schemeClr val="dk1"/>
                </a:solidFill>
                <a:latin typeface="DM Sans"/>
                <a:ea typeface="DM Sans"/>
                <a:cs typeface="DM Sans"/>
                <a:sym typeface="DM Sans"/>
              </a:defRPr>
            </a:lvl3pPr>
            <a:lvl4pPr indent="-304800" lvl="3" marL="1828800">
              <a:lnSpc>
                <a:spcPct val="100000"/>
              </a:lnSpc>
              <a:spcBef>
                <a:spcPts val="1600"/>
              </a:spcBef>
              <a:spcAft>
                <a:spcPts val="0"/>
              </a:spcAft>
              <a:buClr>
                <a:schemeClr val="dk1"/>
              </a:buClr>
              <a:buSzPts val="1200"/>
              <a:buFont typeface="DM Sans"/>
              <a:buChar char="●"/>
              <a:defRPr sz="1200">
                <a:solidFill>
                  <a:schemeClr val="dk1"/>
                </a:solidFill>
                <a:latin typeface="DM Sans"/>
                <a:ea typeface="DM Sans"/>
                <a:cs typeface="DM Sans"/>
                <a:sym typeface="DM Sans"/>
              </a:defRPr>
            </a:lvl4pPr>
            <a:lvl5pPr indent="-304800" lvl="4" marL="2286000">
              <a:lnSpc>
                <a:spcPct val="100000"/>
              </a:lnSpc>
              <a:spcBef>
                <a:spcPts val="1600"/>
              </a:spcBef>
              <a:spcAft>
                <a:spcPts val="0"/>
              </a:spcAft>
              <a:buClr>
                <a:schemeClr val="dk1"/>
              </a:buClr>
              <a:buSzPts val="1200"/>
              <a:buFont typeface="DM Sans"/>
              <a:buChar char="○"/>
              <a:defRPr sz="1200">
                <a:solidFill>
                  <a:schemeClr val="dk1"/>
                </a:solidFill>
                <a:latin typeface="DM Sans"/>
                <a:ea typeface="DM Sans"/>
                <a:cs typeface="DM Sans"/>
                <a:sym typeface="DM Sans"/>
              </a:defRPr>
            </a:lvl5pPr>
            <a:lvl6pPr indent="-304800" lvl="5" marL="2743200">
              <a:lnSpc>
                <a:spcPct val="100000"/>
              </a:lnSpc>
              <a:spcBef>
                <a:spcPts val="1600"/>
              </a:spcBef>
              <a:spcAft>
                <a:spcPts val="0"/>
              </a:spcAft>
              <a:buClr>
                <a:schemeClr val="dk1"/>
              </a:buClr>
              <a:buSzPts val="1200"/>
              <a:buFont typeface="DM Sans"/>
              <a:buChar char="■"/>
              <a:defRPr sz="1200">
                <a:solidFill>
                  <a:schemeClr val="dk1"/>
                </a:solidFill>
                <a:latin typeface="DM Sans"/>
                <a:ea typeface="DM Sans"/>
                <a:cs typeface="DM Sans"/>
                <a:sym typeface="DM Sans"/>
              </a:defRPr>
            </a:lvl6pPr>
            <a:lvl7pPr indent="-304800" lvl="6" marL="3200400">
              <a:lnSpc>
                <a:spcPct val="100000"/>
              </a:lnSpc>
              <a:spcBef>
                <a:spcPts val="1600"/>
              </a:spcBef>
              <a:spcAft>
                <a:spcPts val="0"/>
              </a:spcAft>
              <a:buClr>
                <a:schemeClr val="dk1"/>
              </a:buClr>
              <a:buSzPts val="1200"/>
              <a:buFont typeface="DM Sans"/>
              <a:buChar char="●"/>
              <a:defRPr sz="1200">
                <a:solidFill>
                  <a:schemeClr val="dk1"/>
                </a:solidFill>
                <a:latin typeface="DM Sans"/>
                <a:ea typeface="DM Sans"/>
                <a:cs typeface="DM Sans"/>
                <a:sym typeface="DM Sans"/>
              </a:defRPr>
            </a:lvl7pPr>
            <a:lvl8pPr indent="-304800" lvl="7" marL="3657600">
              <a:lnSpc>
                <a:spcPct val="100000"/>
              </a:lnSpc>
              <a:spcBef>
                <a:spcPts val="1600"/>
              </a:spcBef>
              <a:spcAft>
                <a:spcPts val="0"/>
              </a:spcAft>
              <a:buClr>
                <a:schemeClr val="dk1"/>
              </a:buClr>
              <a:buSzPts val="1200"/>
              <a:buFont typeface="DM Sans"/>
              <a:buChar char="○"/>
              <a:defRPr sz="1200">
                <a:solidFill>
                  <a:schemeClr val="dk1"/>
                </a:solidFill>
                <a:latin typeface="DM Sans"/>
                <a:ea typeface="DM Sans"/>
                <a:cs typeface="DM Sans"/>
                <a:sym typeface="DM Sans"/>
              </a:defRPr>
            </a:lvl8pPr>
            <a:lvl9pPr indent="-304800" lvl="8" marL="4114800">
              <a:lnSpc>
                <a:spcPct val="100000"/>
              </a:lnSpc>
              <a:spcBef>
                <a:spcPts val="1600"/>
              </a:spcBef>
              <a:spcAft>
                <a:spcPts val="1600"/>
              </a:spcAft>
              <a:buClr>
                <a:schemeClr val="dk1"/>
              </a:buClr>
              <a:buSzPts val="1200"/>
              <a:buFont typeface="DM Sans"/>
              <a:buChar char="■"/>
              <a:defRPr sz="1200">
                <a:solidFill>
                  <a:schemeClr val="dk1"/>
                </a:solidFill>
                <a:latin typeface="DM Sans"/>
                <a:ea typeface="DM Sans"/>
                <a:cs typeface="DM Sans"/>
                <a:sym typeface="DM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github.com/fivethirtyeight/data/blob/master/bechdel/movies.csv" TargetMode="External"/><Relationship Id="rId4" Type="http://schemas.openxmlformats.org/officeDocument/2006/relationships/hyperlink" Target="https://fivethirtyeight.com/features/the-dollar-and-cents-case-against-hollywoods-exclusion-of-women/"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7.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9.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4.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5.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6.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4.png"/><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2.xml"/><Relationship Id="rId3"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16.png"/><Relationship Id="rId4" Type="http://schemas.openxmlformats.org/officeDocument/2006/relationships/hyperlink" Target="https://us-east-1.online.tableau.com/t/gsg2141-934b90c4d5/views/deliverable/Dashboard12/f955bc98-4a8f-4847-8b6a-88275c132280/b39eb684-74fe-4ab9-9584-8584a9a6f81a"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7"/>
          <p:cNvSpPr txBox="1"/>
          <p:nvPr>
            <p:ph type="ctrTitle"/>
          </p:nvPr>
        </p:nvSpPr>
        <p:spPr>
          <a:xfrm>
            <a:off x="509775" y="1148650"/>
            <a:ext cx="7829400" cy="1892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5000"/>
              <a:t>Assignment 3</a:t>
            </a:r>
            <a:endParaRPr sz="5000"/>
          </a:p>
          <a:p>
            <a:pPr indent="0" lvl="0" marL="0" rtl="0" algn="ctr">
              <a:spcBef>
                <a:spcPts val="0"/>
              </a:spcBef>
              <a:spcAft>
                <a:spcPts val="0"/>
              </a:spcAft>
              <a:buNone/>
            </a:pPr>
            <a:r>
              <a:rPr b="1" lang="en" sz="5000">
                <a:latin typeface="Playfair Display"/>
                <a:ea typeface="Playfair Display"/>
                <a:cs typeface="Playfair Display"/>
                <a:sym typeface="Playfair Display"/>
              </a:rPr>
              <a:t>Exploratory Data Analysis</a:t>
            </a:r>
            <a:endParaRPr b="1" sz="5000">
              <a:latin typeface="Playfair Display"/>
              <a:ea typeface="Playfair Display"/>
              <a:cs typeface="Playfair Display"/>
              <a:sym typeface="Playfair Display"/>
            </a:endParaRPr>
          </a:p>
        </p:txBody>
      </p:sp>
      <p:sp>
        <p:nvSpPr>
          <p:cNvPr id="169" name="Google Shape;169;p27"/>
          <p:cNvSpPr txBox="1"/>
          <p:nvPr>
            <p:ph type="ctrTitle"/>
          </p:nvPr>
        </p:nvSpPr>
        <p:spPr>
          <a:xfrm>
            <a:off x="662175" y="2063050"/>
            <a:ext cx="7829400" cy="1892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100"/>
              <a:t>Genna, Yichen, Perpetua, Michelle</a:t>
            </a:r>
            <a:endParaRPr b="1" sz="2100">
              <a:latin typeface="Playfair Display"/>
              <a:ea typeface="Playfair Display"/>
              <a:cs typeface="Playfair Display"/>
              <a:sym typeface="Playfair Display"/>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8"/>
          <p:cNvSpPr txBox="1"/>
          <p:nvPr>
            <p:ph type="title"/>
          </p:nvPr>
        </p:nvSpPr>
        <p:spPr>
          <a:xfrm>
            <a:off x="865075" y="1307100"/>
            <a:ext cx="7503600" cy="2529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1: Initial Hypotheses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9"/>
          <p:cNvSpPr txBox="1"/>
          <p:nvPr>
            <p:ph idx="1" type="body"/>
          </p:nvPr>
        </p:nvSpPr>
        <p:spPr>
          <a:xfrm>
            <a:off x="652950" y="882800"/>
            <a:ext cx="7838100" cy="161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happened to be</a:t>
            </a:r>
            <a:r>
              <a:rPr lang="en"/>
              <a:t> an all-women team who also all enjoy watching movies, so we thought we could use data to explore an important issue in movies: female representation. As the standard test used in the industry to measure this, the Bechdel test was the obvious choice to analyze. With the outsized influence of movies on mainstream culture, we thought it would be especially important to investigate the social implications of the Bechdel test and how positive female representation can be either helped or hindered by economic factors like box office revenue and budget considerations.</a:t>
            </a:r>
            <a:endParaRPr/>
          </a:p>
        </p:txBody>
      </p:sp>
      <p:sp>
        <p:nvSpPr>
          <p:cNvPr id="180" name="Google Shape;180;p29"/>
          <p:cNvSpPr txBox="1"/>
          <p:nvPr>
            <p:ph type="title"/>
          </p:nvPr>
        </p:nvSpPr>
        <p:spPr>
          <a:xfrm>
            <a:off x="585875" y="445025"/>
            <a:ext cx="7838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200"/>
              <a:t>Motivation</a:t>
            </a:r>
            <a:endParaRPr sz="2200"/>
          </a:p>
        </p:txBody>
      </p:sp>
      <p:sp>
        <p:nvSpPr>
          <p:cNvPr id="181" name="Google Shape;181;p29"/>
          <p:cNvSpPr txBox="1"/>
          <p:nvPr>
            <p:ph type="title"/>
          </p:nvPr>
        </p:nvSpPr>
        <p:spPr>
          <a:xfrm>
            <a:off x="585875" y="2807225"/>
            <a:ext cx="7838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200"/>
              <a:t>Hypotheses</a:t>
            </a:r>
            <a:endParaRPr sz="2200"/>
          </a:p>
        </p:txBody>
      </p:sp>
      <p:sp>
        <p:nvSpPr>
          <p:cNvPr id="182" name="Google Shape;182;p29"/>
          <p:cNvSpPr txBox="1"/>
          <p:nvPr>
            <p:ph idx="1" type="body"/>
          </p:nvPr>
        </p:nvSpPr>
        <p:spPr>
          <a:xfrm>
            <a:off x="652950" y="3245000"/>
            <a:ext cx="7838100" cy="17820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a:t>Are movies getting better at passing the Bechdel test?</a:t>
            </a:r>
            <a:endParaRPr/>
          </a:p>
          <a:p>
            <a:pPr indent="-304800" lvl="0" marL="457200" rtl="0" algn="l">
              <a:spcBef>
                <a:spcPts val="0"/>
              </a:spcBef>
              <a:spcAft>
                <a:spcPts val="0"/>
              </a:spcAft>
              <a:buSzPts val="1200"/>
              <a:buChar char="●"/>
            </a:pPr>
            <a:r>
              <a:rPr lang="en"/>
              <a:t>Why do movies fail the Bechdel test, and has that changed?</a:t>
            </a:r>
            <a:endParaRPr/>
          </a:p>
          <a:p>
            <a:pPr indent="-304800" lvl="0" marL="457200" rtl="0" algn="l">
              <a:spcBef>
                <a:spcPts val="0"/>
              </a:spcBef>
              <a:spcAft>
                <a:spcPts val="0"/>
              </a:spcAft>
              <a:buSzPts val="1200"/>
              <a:buChar char="●"/>
            </a:pPr>
            <a:r>
              <a:rPr lang="en"/>
              <a:t>Are movies that pass the Bechdel test becoming more “mainstream”?</a:t>
            </a:r>
            <a:endParaRPr/>
          </a:p>
          <a:p>
            <a:pPr indent="-304800" lvl="0" marL="457200" rtl="0" algn="l">
              <a:spcBef>
                <a:spcPts val="0"/>
              </a:spcBef>
              <a:spcAft>
                <a:spcPts val="0"/>
              </a:spcAft>
              <a:buSzPts val="1200"/>
              <a:buChar char="●"/>
            </a:pPr>
            <a:r>
              <a:rPr lang="en"/>
              <a:t>Does the size of a movie’s budget predict if it will pass?</a:t>
            </a:r>
            <a:endParaRPr/>
          </a:p>
          <a:p>
            <a:pPr indent="-304800" lvl="0" marL="457200" rtl="0" algn="l">
              <a:spcBef>
                <a:spcPts val="0"/>
              </a:spcBef>
              <a:spcAft>
                <a:spcPts val="0"/>
              </a:spcAft>
              <a:buSzPts val="1200"/>
              <a:buChar char="●"/>
            </a:pPr>
            <a:r>
              <a:rPr lang="en"/>
              <a:t>Does passing the Bechdel test affect a movie’s profitability?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0"/>
          <p:cNvSpPr txBox="1"/>
          <p:nvPr>
            <p:ph type="title"/>
          </p:nvPr>
        </p:nvSpPr>
        <p:spPr>
          <a:xfrm>
            <a:off x="585875" y="826025"/>
            <a:ext cx="7838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200"/>
              <a:t>Analysis Plan</a:t>
            </a:r>
            <a:endParaRPr sz="2200"/>
          </a:p>
        </p:txBody>
      </p:sp>
      <p:sp>
        <p:nvSpPr>
          <p:cNvPr id="188" name="Google Shape;188;p30"/>
          <p:cNvSpPr txBox="1"/>
          <p:nvPr>
            <p:ph idx="1" type="body"/>
          </p:nvPr>
        </p:nvSpPr>
        <p:spPr>
          <a:xfrm>
            <a:off x="652950" y="1797200"/>
            <a:ext cx="7838100" cy="245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First, we plan on cleaning the dataset and preprocessing it to ensure there are no missing or incorrect values, as well as calculating custom metrics that would be helpful in answering the hypotheses such as profit and pass rates. Then, we will explore trends in the data as well as the shape of it using Tableau to determine the best way to visualize answers to our hypotheses. The hypotheses related to changes over time can be investigated by visualizing the variable of interest over time, and the other hypotheses </a:t>
            </a:r>
            <a:r>
              <a:rPr lang="en"/>
              <a:t>related to the connection between two variables can be investigated by visualizations that directly compare the two.</a:t>
            </a:r>
            <a:endParaRPr/>
          </a:p>
        </p:txBody>
      </p:sp>
      <p:sp>
        <p:nvSpPr>
          <p:cNvPr id="189" name="Google Shape;189;p30"/>
          <p:cNvSpPr txBox="1"/>
          <p:nvPr/>
        </p:nvSpPr>
        <p:spPr>
          <a:xfrm>
            <a:off x="5957450" y="1343150"/>
            <a:ext cx="3198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solidFill>
                <a:schemeClr val="dk1"/>
              </a:solidFill>
              <a:latin typeface="DM Sans"/>
              <a:ea typeface="DM Sans"/>
              <a:cs typeface="DM Sans"/>
              <a:sym typeface="DM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1"/>
          <p:cNvSpPr txBox="1"/>
          <p:nvPr>
            <p:ph type="title"/>
          </p:nvPr>
        </p:nvSpPr>
        <p:spPr>
          <a:xfrm>
            <a:off x="865075" y="1307100"/>
            <a:ext cx="7503600" cy="2529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 Data Source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2"/>
          <p:cNvSpPr txBox="1"/>
          <p:nvPr>
            <p:ph type="title"/>
          </p:nvPr>
        </p:nvSpPr>
        <p:spPr>
          <a:xfrm>
            <a:off x="585875" y="521225"/>
            <a:ext cx="7838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200"/>
              <a:t>Data Source</a:t>
            </a:r>
            <a:endParaRPr sz="2200"/>
          </a:p>
        </p:txBody>
      </p:sp>
      <p:sp>
        <p:nvSpPr>
          <p:cNvPr id="200" name="Google Shape;200;p32"/>
          <p:cNvSpPr txBox="1"/>
          <p:nvPr>
            <p:ph idx="1" type="body"/>
          </p:nvPr>
        </p:nvSpPr>
        <p:spPr>
          <a:xfrm>
            <a:off x="652950" y="1111400"/>
            <a:ext cx="7838100" cy="24561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200"/>
              <a:t>Description: </a:t>
            </a:r>
            <a:r>
              <a:rPr lang="en" sz="1200"/>
              <a:t>The dataset contains 1,794 films released between 1970 and 2013. It tracks the Bechdel Test "Binary" result (Pass/Fail) alongside critical financial metrics: Production Budget, Domestic Gross, and International Gross. We specifically utilized the 2013-inflation-adjusted columns to ensure that financial comparisons across four decades were normalized and accurate.</a:t>
            </a:r>
            <a:endParaRPr sz="1200"/>
          </a:p>
          <a:p>
            <a:pPr indent="0" lvl="0" marL="0" rtl="0" algn="l">
              <a:lnSpc>
                <a:spcPct val="100000"/>
              </a:lnSpc>
              <a:spcBef>
                <a:spcPts val="0"/>
              </a:spcBef>
              <a:spcAft>
                <a:spcPts val="0"/>
              </a:spcAft>
              <a:buNone/>
            </a:pPr>
            <a:r>
              <a:t/>
            </a:r>
            <a:endParaRPr b="1" sz="1200"/>
          </a:p>
          <a:p>
            <a:pPr indent="0" lvl="0" marL="0" rtl="0" algn="l">
              <a:lnSpc>
                <a:spcPct val="100000"/>
              </a:lnSpc>
              <a:spcBef>
                <a:spcPts val="0"/>
              </a:spcBef>
              <a:spcAft>
                <a:spcPts val="0"/>
              </a:spcAft>
              <a:buNone/>
            </a:pPr>
            <a:r>
              <a:rPr b="1" lang="en" sz="1200"/>
              <a:t>Source: </a:t>
            </a:r>
            <a:r>
              <a:rPr lang="en" sz="1200"/>
              <a:t>The data was sourced from the </a:t>
            </a:r>
            <a:r>
              <a:rPr lang="en" sz="1200" u="sng">
                <a:hlinkClick r:id="rId3"/>
              </a:rPr>
              <a:t>FiveThirtyEight GitHub repository,</a:t>
            </a:r>
            <a:r>
              <a:rPr lang="en" sz="1200"/>
              <a:t> originally compiled for the report "</a:t>
            </a:r>
            <a:r>
              <a:rPr lang="en" sz="1200" u="sng">
                <a:hlinkClick r:id="rId4"/>
              </a:rPr>
              <a:t>The Dollar-And-Cents Case Against Hollywood's Exclusion of Women.</a:t>
            </a:r>
            <a:r>
              <a:rPr lang="en" sz="1200"/>
              <a:t>" The researchers merged crowdsourced test results from BechdelTest.com with professional financial tracking data from The Numbers (Nash Information Services).</a:t>
            </a:r>
            <a:endParaRPr sz="1200"/>
          </a:p>
          <a:p>
            <a:pPr indent="0" lvl="0" marL="0" rtl="0" algn="l">
              <a:lnSpc>
                <a:spcPct val="100000"/>
              </a:lnSpc>
              <a:spcBef>
                <a:spcPts val="0"/>
              </a:spcBef>
              <a:spcAft>
                <a:spcPts val="0"/>
              </a:spcAft>
              <a:buNone/>
            </a:pPr>
            <a:r>
              <a:t/>
            </a:r>
            <a:endParaRPr b="1" sz="1200"/>
          </a:p>
          <a:p>
            <a:pPr indent="0" lvl="0" marL="0" rtl="0" algn="l">
              <a:lnSpc>
                <a:spcPct val="100000"/>
              </a:lnSpc>
              <a:spcBef>
                <a:spcPts val="0"/>
              </a:spcBef>
              <a:spcAft>
                <a:spcPts val="0"/>
              </a:spcAft>
              <a:buNone/>
            </a:pPr>
            <a:r>
              <a:rPr b="1" lang="en" sz="1200"/>
              <a:t>Format: </a:t>
            </a:r>
            <a:r>
              <a:rPr lang="en" sz="1200"/>
              <a:t>The original data was a structured CSV file. This allowed for a clean import into Tableau, with each row representing a unique film and its corresponding financial and gender-representation metrics.</a:t>
            </a:r>
            <a:endParaRPr sz="1200"/>
          </a:p>
          <a:p>
            <a:pPr indent="0" lvl="0" marL="0" rtl="0" algn="l">
              <a:lnSpc>
                <a:spcPct val="100000"/>
              </a:lnSpc>
              <a:spcBef>
                <a:spcPts val="0"/>
              </a:spcBef>
              <a:spcAft>
                <a:spcPts val="0"/>
              </a:spcAft>
              <a:buNone/>
            </a:pPr>
            <a:r>
              <a:t/>
            </a:r>
            <a:endParaRPr b="1" sz="1200"/>
          </a:p>
          <a:p>
            <a:pPr indent="0" lvl="0" marL="0" rtl="0" algn="l">
              <a:spcBef>
                <a:spcPts val="0"/>
              </a:spcBef>
              <a:spcAft>
                <a:spcPts val="0"/>
              </a:spcAft>
              <a:buNone/>
            </a:pPr>
            <a:r>
              <a:rPr b="1" lang="en" sz="1200"/>
              <a:t>Transformations:</a:t>
            </a:r>
            <a:r>
              <a:rPr lang="en" sz="1200"/>
              <a:t> To prepare the data for accurate analysis, we performed four essential transformations. We first implemented Inflation Normalization by prioritizing 2013-adjusted dollars, ensuring financial comparisons across four decades remained consistent. We then applied Binary Simplification to group complex failure codes into a streamlined "Pass/Fail" dimension and executed an Aggregation Shift from "Sum" to "Average" to capture the typical film's budget rather than misleading yearly totals.</a:t>
            </a:r>
            <a:endParaRPr b="1" sz="1200"/>
          </a:p>
          <a:p>
            <a:pPr indent="0" lvl="0" marL="0" rtl="0" algn="l">
              <a:spcBef>
                <a:spcPts val="0"/>
              </a:spcBef>
              <a:spcAft>
                <a:spcPts val="0"/>
              </a:spcAft>
              <a:buNone/>
            </a:pPr>
            <a:r>
              <a:t/>
            </a:r>
            <a:endParaRPr b="1" sz="1200"/>
          </a:p>
          <a:p>
            <a:pPr indent="0" lvl="0" marL="0" rtl="0" algn="l">
              <a:spcBef>
                <a:spcPts val="0"/>
              </a:spcBef>
              <a:spcAft>
                <a:spcPts val="0"/>
              </a:spcAft>
              <a:buNone/>
            </a:pPr>
            <a:r>
              <a:t/>
            </a:r>
            <a:endParaRPr b="1" sz="1200"/>
          </a:p>
          <a:p>
            <a:pPr indent="0" lvl="0" marL="0" rtl="0" algn="l">
              <a:lnSpc>
                <a:spcPct val="100000"/>
              </a:lnSpc>
              <a:spcBef>
                <a:spcPts val="0"/>
              </a:spcBef>
              <a:spcAft>
                <a:spcPts val="0"/>
              </a:spcAft>
              <a:buNone/>
            </a:pPr>
            <a:r>
              <a:t/>
            </a:r>
            <a:endParaRPr sz="1200"/>
          </a:p>
          <a:p>
            <a:pPr indent="0" lvl="0" marL="0" rtl="0" algn="l">
              <a:spcBef>
                <a:spcPts val="0"/>
              </a:spcBef>
              <a:spcAft>
                <a:spcPts val="0"/>
              </a:spcAft>
              <a:buNone/>
            </a:pPr>
            <a:r>
              <a:t/>
            </a:r>
            <a:endParaRPr/>
          </a:p>
        </p:txBody>
      </p:sp>
      <p:sp>
        <p:nvSpPr>
          <p:cNvPr id="201" name="Google Shape;201;p32"/>
          <p:cNvSpPr txBox="1"/>
          <p:nvPr/>
        </p:nvSpPr>
        <p:spPr>
          <a:xfrm>
            <a:off x="5957450" y="1343150"/>
            <a:ext cx="3198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solidFill>
                <a:schemeClr val="dk1"/>
              </a:solidFill>
              <a:latin typeface="DM Sans"/>
              <a:ea typeface="DM Sans"/>
              <a:cs typeface="DM Sans"/>
              <a:sym typeface="DM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3"/>
          <p:cNvSpPr txBox="1"/>
          <p:nvPr>
            <p:ph type="title"/>
          </p:nvPr>
        </p:nvSpPr>
        <p:spPr>
          <a:xfrm>
            <a:off x="865075" y="1307100"/>
            <a:ext cx="7503600" cy="2529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3: Exploration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4"/>
          <p:cNvSpPr txBox="1"/>
          <p:nvPr>
            <p:ph type="title"/>
          </p:nvPr>
        </p:nvSpPr>
        <p:spPr>
          <a:xfrm>
            <a:off x="585875" y="1283225"/>
            <a:ext cx="7838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200"/>
              <a:t>Hypotheses</a:t>
            </a:r>
            <a:endParaRPr sz="2200"/>
          </a:p>
        </p:txBody>
      </p:sp>
      <p:sp>
        <p:nvSpPr>
          <p:cNvPr id="212" name="Google Shape;212;p34"/>
          <p:cNvSpPr txBox="1"/>
          <p:nvPr>
            <p:ph idx="1" type="body"/>
          </p:nvPr>
        </p:nvSpPr>
        <p:spPr>
          <a:xfrm>
            <a:off x="652950" y="1721000"/>
            <a:ext cx="7838100" cy="17820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Font typeface="Nunito"/>
              <a:buChar char="●"/>
            </a:pPr>
            <a:r>
              <a:rPr b="1" lang="en"/>
              <a:t>Are movies getting better at passing the Bechdel test?</a:t>
            </a:r>
            <a:endParaRPr b="1"/>
          </a:p>
          <a:p>
            <a:pPr indent="-304800" lvl="0" marL="457200" rtl="0" algn="l">
              <a:spcBef>
                <a:spcPts val="0"/>
              </a:spcBef>
              <a:spcAft>
                <a:spcPts val="0"/>
              </a:spcAft>
              <a:buSzPts val="1200"/>
              <a:buChar char="●"/>
            </a:pPr>
            <a:r>
              <a:rPr lang="en"/>
              <a:t>Why do movies fail the Bechdel test, and has that changed?</a:t>
            </a:r>
            <a:endParaRPr/>
          </a:p>
          <a:p>
            <a:pPr indent="-304800" lvl="0" marL="457200" rtl="0" algn="l">
              <a:spcBef>
                <a:spcPts val="0"/>
              </a:spcBef>
              <a:spcAft>
                <a:spcPts val="0"/>
              </a:spcAft>
              <a:buSzPts val="1200"/>
              <a:buChar char="●"/>
            </a:pPr>
            <a:r>
              <a:rPr lang="en"/>
              <a:t>Are movies that pass the Bechdel test becoming more “mainstream”?</a:t>
            </a:r>
            <a:endParaRPr/>
          </a:p>
          <a:p>
            <a:pPr indent="-304800" lvl="0" marL="457200" rtl="0" algn="l">
              <a:spcBef>
                <a:spcPts val="0"/>
              </a:spcBef>
              <a:spcAft>
                <a:spcPts val="0"/>
              </a:spcAft>
              <a:buSzPts val="1200"/>
              <a:buChar char="●"/>
            </a:pPr>
            <a:r>
              <a:rPr lang="en"/>
              <a:t>Does the size of a movie’s budget predict if it will pass?</a:t>
            </a:r>
            <a:endParaRPr/>
          </a:p>
          <a:p>
            <a:pPr indent="-304800" lvl="0" marL="457200" rtl="0" algn="l">
              <a:spcBef>
                <a:spcPts val="0"/>
              </a:spcBef>
              <a:spcAft>
                <a:spcPts val="0"/>
              </a:spcAft>
              <a:buSzPts val="1200"/>
              <a:buChar char="●"/>
            </a:pPr>
            <a:r>
              <a:rPr lang="en"/>
              <a:t>Does passing the Bechdel test affect a movie’s profitability?</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5"/>
          <p:cNvSpPr txBox="1"/>
          <p:nvPr>
            <p:ph type="title"/>
          </p:nvPr>
        </p:nvSpPr>
        <p:spPr>
          <a:xfrm>
            <a:off x="3172850" y="508725"/>
            <a:ext cx="5562000" cy="59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200"/>
              <a:t>How has the percentage of films passing the Bechdel Test changed across decades?</a:t>
            </a:r>
            <a:endParaRPr sz="2200"/>
          </a:p>
        </p:txBody>
      </p:sp>
      <p:sp>
        <p:nvSpPr>
          <p:cNvPr id="218" name="Google Shape;218;p35"/>
          <p:cNvSpPr txBox="1"/>
          <p:nvPr>
            <p:ph idx="1" type="body"/>
          </p:nvPr>
        </p:nvSpPr>
        <p:spPr>
          <a:xfrm>
            <a:off x="3203850" y="1405375"/>
            <a:ext cx="4849200" cy="200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visualization shows the percentage of films passing the Bechdel Test across decades. The percentage of passing films increases steadily from the 1970s through the 2000s, nearly doubling over that period. While the 2010s show a slight decline, it overall remains significantly higher than earlier decades.</a:t>
            </a:r>
            <a:endParaRPr/>
          </a:p>
        </p:txBody>
      </p:sp>
      <p:pic>
        <p:nvPicPr>
          <p:cNvPr id="219" name="Google Shape;219;p35" title="Screenshot 2026-02-17 at 12.39.37 PM.png"/>
          <p:cNvPicPr preferRelativeResize="0"/>
          <p:nvPr/>
        </p:nvPicPr>
        <p:blipFill>
          <a:blip r:embed="rId3">
            <a:alphaModFix/>
          </a:blip>
          <a:stretch>
            <a:fillRect/>
          </a:stretch>
        </p:blipFill>
        <p:spPr>
          <a:xfrm>
            <a:off x="273925" y="241525"/>
            <a:ext cx="2771425" cy="4660450"/>
          </a:xfrm>
          <a:prstGeom prst="rect">
            <a:avLst/>
          </a:prstGeom>
          <a:noFill/>
          <a:ln>
            <a:noFill/>
          </a:ln>
        </p:spPr>
      </p:pic>
      <p:pic>
        <p:nvPicPr>
          <p:cNvPr id="220" name="Google Shape;220;p35" title="Screenshot 2026-02-17 at 11.56.12 AM.png"/>
          <p:cNvPicPr preferRelativeResize="0"/>
          <p:nvPr/>
        </p:nvPicPr>
        <p:blipFill>
          <a:blip r:embed="rId4">
            <a:alphaModFix/>
          </a:blip>
          <a:stretch>
            <a:fillRect/>
          </a:stretch>
        </p:blipFill>
        <p:spPr>
          <a:xfrm>
            <a:off x="3089475" y="4199125"/>
            <a:ext cx="1791125" cy="7028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6"/>
          <p:cNvSpPr txBox="1"/>
          <p:nvPr>
            <p:ph type="title"/>
          </p:nvPr>
        </p:nvSpPr>
        <p:spPr>
          <a:xfrm>
            <a:off x="585875" y="1283225"/>
            <a:ext cx="7838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200"/>
              <a:t>Hypotheses</a:t>
            </a:r>
            <a:endParaRPr sz="2200"/>
          </a:p>
        </p:txBody>
      </p:sp>
      <p:sp>
        <p:nvSpPr>
          <p:cNvPr id="226" name="Google Shape;226;p36"/>
          <p:cNvSpPr txBox="1"/>
          <p:nvPr>
            <p:ph idx="1" type="body"/>
          </p:nvPr>
        </p:nvSpPr>
        <p:spPr>
          <a:xfrm>
            <a:off x="652950" y="1721000"/>
            <a:ext cx="7838100" cy="17820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a:t>Are movies getting better at passing the Bechdel test?</a:t>
            </a:r>
            <a:endParaRPr/>
          </a:p>
          <a:p>
            <a:pPr indent="-304800" lvl="0" marL="457200" rtl="0" algn="l">
              <a:spcBef>
                <a:spcPts val="0"/>
              </a:spcBef>
              <a:spcAft>
                <a:spcPts val="0"/>
              </a:spcAft>
              <a:buSzPts val="1200"/>
              <a:buFont typeface="Nunito"/>
              <a:buChar char="●"/>
            </a:pPr>
            <a:r>
              <a:rPr b="1" lang="en"/>
              <a:t>Why do movies fail the Bechdel test, and has that changed?</a:t>
            </a:r>
            <a:endParaRPr b="1"/>
          </a:p>
          <a:p>
            <a:pPr indent="-304800" lvl="0" marL="457200" rtl="0" algn="l">
              <a:spcBef>
                <a:spcPts val="0"/>
              </a:spcBef>
              <a:spcAft>
                <a:spcPts val="0"/>
              </a:spcAft>
              <a:buSzPts val="1200"/>
              <a:buChar char="●"/>
            </a:pPr>
            <a:r>
              <a:rPr lang="en"/>
              <a:t>Are movies that pass the Bechdel test becoming more “mainstream”?</a:t>
            </a:r>
            <a:endParaRPr/>
          </a:p>
          <a:p>
            <a:pPr indent="-304800" lvl="0" marL="457200" rtl="0" algn="l">
              <a:spcBef>
                <a:spcPts val="0"/>
              </a:spcBef>
              <a:spcAft>
                <a:spcPts val="0"/>
              </a:spcAft>
              <a:buSzPts val="1200"/>
              <a:buChar char="●"/>
            </a:pPr>
            <a:r>
              <a:rPr lang="en"/>
              <a:t>Does the size of a movie’s budget predict if it will pass?</a:t>
            </a:r>
            <a:endParaRPr/>
          </a:p>
          <a:p>
            <a:pPr indent="-304800" lvl="0" marL="457200" rtl="0" algn="l">
              <a:spcBef>
                <a:spcPts val="0"/>
              </a:spcBef>
              <a:spcAft>
                <a:spcPts val="0"/>
              </a:spcAft>
              <a:buSzPts val="1200"/>
              <a:buChar char="●"/>
            </a:pPr>
            <a:r>
              <a:rPr lang="en"/>
              <a:t>Does passing the Bechdel test affect a movie’s profitability?</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2200">
                <a:solidFill>
                  <a:srgbClr val="000000"/>
                </a:solidFill>
              </a:rPr>
              <a:t>Why do movies fail the Bechdel test, and has that changed?</a:t>
            </a:r>
            <a:endParaRPr sz="2200">
              <a:solidFill>
                <a:srgbClr val="000000"/>
              </a:solidFill>
            </a:endParaRPr>
          </a:p>
          <a:p>
            <a:pPr indent="0" lvl="0" marL="0" rtl="0" algn="l">
              <a:spcBef>
                <a:spcPts val="0"/>
              </a:spcBef>
              <a:spcAft>
                <a:spcPts val="0"/>
              </a:spcAft>
              <a:buNone/>
            </a:pPr>
            <a:r>
              <a:t/>
            </a:r>
            <a:endParaRPr sz="2200"/>
          </a:p>
        </p:txBody>
      </p:sp>
      <p:sp>
        <p:nvSpPr>
          <p:cNvPr id="232" name="Google Shape;232;p37"/>
          <p:cNvSpPr txBox="1"/>
          <p:nvPr>
            <p:ph idx="1" type="body"/>
          </p:nvPr>
        </p:nvSpPr>
        <p:spPr>
          <a:xfrm>
            <a:off x="4235275" y="1122725"/>
            <a:ext cx="3957000" cy="2565900"/>
          </a:xfrm>
          <a:prstGeom prst="rect">
            <a:avLst/>
          </a:prstGeom>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
                <a:solidFill>
                  <a:srgbClr val="000000"/>
                </a:solidFill>
              </a:rPr>
              <a:t>This chart reveals that while the percentage of movies passing the test ("ok") has nearly doubled since the 1970s, the most persistent reason for failure is "notalk": women characters not speaking to each other about anything besides a man. Additionally, the "nowomen" category (no two named women in the film) has seen a steady decline, indicating an improvement in female presence, even if dialogue remains a hurdle.</a:t>
            </a:r>
            <a:endParaRPr>
              <a:solidFill>
                <a:srgbClr val="000000"/>
              </a:solidFill>
            </a:endParaRPr>
          </a:p>
          <a:p>
            <a:pPr indent="0" lvl="0" marL="0" rtl="0" algn="l">
              <a:spcBef>
                <a:spcPts val="0"/>
              </a:spcBef>
              <a:spcAft>
                <a:spcPts val="0"/>
              </a:spcAft>
              <a:buNone/>
            </a:pPr>
            <a:r>
              <a:t/>
            </a:r>
            <a:endParaRPr/>
          </a:p>
        </p:txBody>
      </p:sp>
      <p:pic>
        <p:nvPicPr>
          <p:cNvPr id="233" name="Google Shape;233;p37"/>
          <p:cNvPicPr preferRelativeResize="0"/>
          <p:nvPr/>
        </p:nvPicPr>
        <p:blipFill>
          <a:blip r:embed="rId3">
            <a:alphaModFix/>
          </a:blip>
          <a:stretch>
            <a:fillRect/>
          </a:stretch>
        </p:blipFill>
        <p:spPr>
          <a:xfrm>
            <a:off x="4086951" y="4014275"/>
            <a:ext cx="970100" cy="862775"/>
          </a:xfrm>
          <a:prstGeom prst="rect">
            <a:avLst/>
          </a:prstGeom>
          <a:noFill/>
          <a:ln>
            <a:noFill/>
          </a:ln>
        </p:spPr>
      </p:pic>
      <p:pic>
        <p:nvPicPr>
          <p:cNvPr id="234" name="Google Shape;234;p37"/>
          <p:cNvPicPr preferRelativeResize="0"/>
          <p:nvPr/>
        </p:nvPicPr>
        <p:blipFill>
          <a:blip r:embed="rId4">
            <a:alphaModFix/>
          </a:blip>
          <a:stretch>
            <a:fillRect/>
          </a:stretch>
        </p:blipFill>
        <p:spPr>
          <a:xfrm>
            <a:off x="152400" y="1170125"/>
            <a:ext cx="3782150" cy="3806551"/>
          </a:xfrm>
          <a:prstGeom prst="rect">
            <a:avLst/>
          </a:prstGeom>
          <a:noFill/>
          <a:ln>
            <a:noFill/>
          </a:ln>
        </p:spPr>
      </p:pic>
      <p:sp>
        <p:nvSpPr>
          <p:cNvPr id="235" name="Google Shape;235;p37"/>
          <p:cNvSpPr txBox="1"/>
          <p:nvPr/>
        </p:nvSpPr>
        <p:spPr>
          <a:xfrm>
            <a:off x="6200000" y="4216750"/>
            <a:ext cx="1019400" cy="12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chemeClr val="dk1"/>
              </a:solidFill>
              <a:latin typeface="DM Sans"/>
              <a:ea typeface="DM Sans"/>
              <a:cs typeface="DM Sans"/>
              <a:sym typeface="DM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8"/>
          <p:cNvSpPr txBox="1"/>
          <p:nvPr>
            <p:ph type="title"/>
          </p:nvPr>
        </p:nvSpPr>
        <p:spPr>
          <a:xfrm>
            <a:off x="220650" y="563600"/>
            <a:ext cx="8203500" cy="593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000000"/>
                </a:solidFill>
              </a:rPr>
              <a:t>Does Spending More Mean Representing Women Less?</a:t>
            </a:r>
            <a:endParaRPr sz="2100"/>
          </a:p>
        </p:txBody>
      </p:sp>
      <p:sp>
        <p:nvSpPr>
          <p:cNvPr id="241" name="Google Shape;241;p38"/>
          <p:cNvSpPr txBox="1"/>
          <p:nvPr>
            <p:ph idx="1" type="body"/>
          </p:nvPr>
        </p:nvSpPr>
        <p:spPr>
          <a:xfrm>
            <a:off x="220650" y="1398100"/>
            <a:ext cx="2397000" cy="43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t>Budget and pass rate move largely independently across the dataset. Some of the lowest pass rate years coincide with low budgets in the mid-1970s, while the post-2000 period shows both rising budgets and improving pass rates simultaneously. This suggests no simple relationship between how much Hollywood spends and how well women are represented on screen.</a:t>
            </a:r>
            <a:endParaRPr sz="1200"/>
          </a:p>
        </p:txBody>
      </p:sp>
      <p:sp>
        <p:nvSpPr>
          <p:cNvPr id="242" name="Google Shape;242;p38"/>
          <p:cNvSpPr txBox="1"/>
          <p:nvPr/>
        </p:nvSpPr>
        <p:spPr>
          <a:xfrm>
            <a:off x="7173075" y="4227025"/>
            <a:ext cx="13809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200">
              <a:solidFill>
                <a:schemeClr val="dk1"/>
              </a:solidFill>
              <a:latin typeface="DM Sans"/>
              <a:ea typeface="DM Sans"/>
              <a:cs typeface="DM Sans"/>
              <a:sym typeface="DM Sans"/>
            </a:endParaRPr>
          </a:p>
        </p:txBody>
      </p:sp>
      <p:pic>
        <p:nvPicPr>
          <p:cNvPr id="243" name="Google Shape;243;p38" title="Screenshot 2026-02-18 at 3.38.32 PM.png"/>
          <p:cNvPicPr preferRelativeResize="0"/>
          <p:nvPr/>
        </p:nvPicPr>
        <p:blipFill rotWithShape="1">
          <a:blip r:embed="rId3">
            <a:alphaModFix/>
          </a:blip>
          <a:srcRect b="12905" l="10653" r="37404" t="21689"/>
          <a:stretch/>
        </p:blipFill>
        <p:spPr>
          <a:xfrm>
            <a:off x="2617650" y="1460275"/>
            <a:ext cx="4293949" cy="3379402"/>
          </a:xfrm>
          <a:prstGeom prst="rect">
            <a:avLst/>
          </a:prstGeom>
          <a:noFill/>
          <a:ln>
            <a:noFill/>
          </a:ln>
        </p:spPr>
      </p:pic>
      <p:sp>
        <p:nvSpPr>
          <p:cNvPr id="244" name="Google Shape;244;p38"/>
          <p:cNvSpPr txBox="1"/>
          <p:nvPr/>
        </p:nvSpPr>
        <p:spPr>
          <a:xfrm>
            <a:off x="7007650" y="1894510"/>
            <a:ext cx="1630200" cy="31728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1"/>
                </a:solidFill>
                <a:latin typeface="DM Sans"/>
                <a:ea typeface="DM Sans"/>
                <a:cs typeface="DM Sans"/>
                <a:sym typeface="DM Sans"/>
              </a:rPr>
              <a:t>Data Quality: </a:t>
            </a:r>
            <a:r>
              <a:rPr lang="en" sz="1000">
                <a:solidFill>
                  <a:schemeClr val="dk1"/>
                </a:solidFill>
                <a:latin typeface="DM Sans"/>
                <a:ea typeface="DM Sans"/>
                <a:cs typeface="DM Sans"/>
                <a:sym typeface="DM Sans"/>
              </a:rPr>
              <a:t>Movies with missing or zero budget values were retained, which may cause some yearly averages to be pulled downward so a cleaned dataset would likely show an even steeper budget growth curve. Pass rate volatility in the early years (pre-1975) reflects a small sample size per year rather than genuine year-to-year swings in industry behavior, so I reduced the range to start in 1975 to avoid such biases.</a:t>
            </a:r>
            <a:endParaRPr sz="1000">
              <a:solidFill>
                <a:schemeClr val="dk1"/>
              </a:solidFill>
              <a:latin typeface="DM Sans"/>
              <a:ea typeface="DM Sans"/>
              <a:cs typeface="DM Sans"/>
              <a:sym typeface="DM Sans"/>
            </a:endParaRPr>
          </a:p>
        </p:txBody>
      </p:sp>
      <p:sp>
        <p:nvSpPr>
          <p:cNvPr id="245" name="Google Shape;245;p38"/>
          <p:cNvSpPr txBox="1"/>
          <p:nvPr/>
        </p:nvSpPr>
        <p:spPr>
          <a:xfrm>
            <a:off x="6993400" y="393839"/>
            <a:ext cx="1658700" cy="1400400"/>
          </a:xfrm>
          <a:prstGeom prst="rect">
            <a:avLst/>
          </a:prstGeom>
          <a:noFill/>
          <a:ln cap="flat" cmpd="sng" w="9525">
            <a:solidFill>
              <a:srgbClr val="191919"/>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1"/>
                </a:solidFill>
                <a:latin typeface="DM Sans"/>
                <a:ea typeface="DM Sans"/>
                <a:cs typeface="DM Sans"/>
                <a:sym typeface="DM Sans"/>
              </a:rPr>
              <a:t>Calculations:</a:t>
            </a:r>
            <a:endParaRPr b="1" sz="1000">
              <a:solidFill>
                <a:schemeClr val="dk1"/>
              </a:solidFill>
              <a:latin typeface="DM Sans"/>
              <a:ea typeface="DM Sans"/>
              <a:cs typeface="DM Sans"/>
              <a:sym typeface="DM Sans"/>
            </a:endParaRPr>
          </a:p>
          <a:p>
            <a:pPr indent="0" lvl="0" marL="0" rtl="0" algn="l">
              <a:spcBef>
                <a:spcPts val="0"/>
              </a:spcBef>
              <a:spcAft>
                <a:spcPts val="0"/>
              </a:spcAft>
              <a:buNone/>
            </a:pPr>
            <a:r>
              <a:t/>
            </a:r>
            <a:endParaRPr sz="1000">
              <a:solidFill>
                <a:schemeClr val="dk1"/>
              </a:solidFill>
              <a:latin typeface="DM Sans"/>
              <a:ea typeface="DM Sans"/>
              <a:cs typeface="DM Sans"/>
              <a:sym typeface="DM Sans"/>
            </a:endParaRPr>
          </a:p>
          <a:p>
            <a:pPr indent="0" lvl="0" marL="0" rtl="0" algn="l">
              <a:spcBef>
                <a:spcPts val="0"/>
              </a:spcBef>
              <a:spcAft>
                <a:spcPts val="0"/>
              </a:spcAft>
              <a:buNone/>
            </a:pPr>
            <a:r>
              <a:rPr b="1" lang="en" sz="1000">
                <a:solidFill>
                  <a:schemeClr val="dk1"/>
                </a:solidFill>
                <a:latin typeface="DM Sans"/>
                <a:ea typeface="DM Sans"/>
                <a:cs typeface="DM Sans"/>
                <a:sym typeface="DM Sans"/>
              </a:rPr>
              <a:t>Pass Flag = </a:t>
            </a:r>
            <a:r>
              <a:rPr lang="en" sz="1000">
                <a:solidFill>
                  <a:schemeClr val="dk1"/>
                </a:solidFill>
                <a:latin typeface="DM Sans"/>
                <a:ea typeface="DM Sans"/>
                <a:cs typeface="DM Sans"/>
                <a:sym typeface="DM Sans"/>
              </a:rPr>
              <a:t>If[Binary]="PASS" THEN 1 ELSE 0 END</a:t>
            </a:r>
            <a:endParaRPr sz="1000">
              <a:solidFill>
                <a:schemeClr val="dk1"/>
              </a:solidFill>
              <a:latin typeface="DM Sans"/>
              <a:ea typeface="DM Sans"/>
              <a:cs typeface="DM Sans"/>
              <a:sym typeface="DM Sans"/>
            </a:endParaRPr>
          </a:p>
          <a:p>
            <a:pPr indent="0" lvl="0" marL="0" rtl="0" algn="l">
              <a:spcBef>
                <a:spcPts val="0"/>
              </a:spcBef>
              <a:spcAft>
                <a:spcPts val="0"/>
              </a:spcAft>
              <a:buNone/>
            </a:pPr>
            <a:r>
              <a:t/>
            </a:r>
            <a:endParaRPr sz="1000">
              <a:solidFill>
                <a:schemeClr val="dk1"/>
              </a:solidFill>
              <a:latin typeface="DM Sans"/>
              <a:ea typeface="DM Sans"/>
              <a:cs typeface="DM Sans"/>
              <a:sym typeface="DM Sans"/>
            </a:endParaRPr>
          </a:p>
          <a:p>
            <a:pPr indent="0" lvl="0" marL="0" rtl="0" algn="l">
              <a:spcBef>
                <a:spcPts val="0"/>
              </a:spcBef>
              <a:spcAft>
                <a:spcPts val="0"/>
              </a:spcAft>
              <a:buNone/>
            </a:pPr>
            <a:r>
              <a:rPr b="1" lang="en" sz="1000">
                <a:solidFill>
                  <a:schemeClr val="dk1"/>
                </a:solidFill>
                <a:latin typeface="DM Sans"/>
                <a:ea typeface="DM Sans"/>
                <a:cs typeface="DM Sans"/>
                <a:sym typeface="DM Sans"/>
              </a:rPr>
              <a:t>Pass Rate = </a:t>
            </a:r>
            <a:r>
              <a:rPr lang="en" sz="1000">
                <a:solidFill>
                  <a:schemeClr val="dk1"/>
                </a:solidFill>
                <a:latin typeface="DM Sans"/>
                <a:ea typeface="DM Sans"/>
                <a:cs typeface="DM Sans"/>
                <a:sym typeface="DM Sans"/>
              </a:rPr>
              <a:t>SUM([Pass Flag]) / COUNT([Binary])</a:t>
            </a:r>
            <a:endParaRPr sz="1000">
              <a:solidFill>
                <a:schemeClr val="dk1"/>
              </a:solidFill>
              <a:latin typeface="DM Sans"/>
              <a:ea typeface="DM Sans"/>
              <a:cs typeface="DM Sans"/>
              <a:sym typeface="DM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9"/>
          <p:cNvSpPr txBox="1"/>
          <p:nvPr>
            <p:ph type="title"/>
          </p:nvPr>
        </p:nvSpPr>
        <p:spPr>
          <a:xfrm>
            <a:off x="585875" y="1283225"/>
            <a:ext cx="7838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200"/>
              <a:t>Hypotheses</a:t>
            </a:r>
            <a:endParaRPr sz="2200"/>
          </a:p>
        </p:txBody>
      </p:sp>
      <p:sp>
        <p:nvSpPr>
          <p:cNvPr id="251" name="Google Shape;251;p39"/>
          <p:cNvSpPr txBox="1"/>
          <p:nvPr>
            <p:ph idx="1" type="body"/>
          </p:nvPr>
        </p:nvSpPr>
        <p:spPr>
          <a:xfrm>
            <a:off x="652950" y="1721000"/>
            <a:ext cx="7838100" cy="17820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a:t>Are movies getting better at passing the Bechdel test?</a:t>
            </a:r>
            <a:endParaRPr/>
          </a:p>
          <a:p>
            <a:pPr indent="-304800" lvl="0" marL="457200" rtl="0" algn="l">
              <a:spcBef>
                <a:spcPts val="0"/>
              </a:spcBef>
              <a:spcAft>
                <a:spcPts val="0"/>
              </a:spcAft>
              <a:buSzPts val="1200"/>
              <a:buChar char="●"/>
            </a:pPr>
            <a:r>
              <a:rPr lang="en"/>
              <a:t>Why do movies fail the Bechdel test, and has that changed?</a:t>
            </a:r>
            <a:endParaRPr/>
          </a:p>
          <a:p>
            <a:pPr indent="-304800" lvl="0" marL="457200" rtl="0" algn="l">
              <a:spcBef>
                <a:spcPts val="0"/>
              </a:spcBef>
              <a:spcAft>
                <a:spcPts val="0"/>
              </a:spcAft>
              <a:buSzPts val="1200"/>
              <a:buFont typeface="Nunito"/>
              <a:buChar char="●"/>
            </a:pPr>
            <a:r>
              <a:rPr b="1" lang="en"/>
              <a:t>Are movies that pass the Bechdel test becoming more “mainstream”?</a:t>
            </a:r>
            <a:endParaRPr b="1"/>
          </a:p>
          <a:p>
            <a:pPr indent="-304800" lvl="0" marL="457200" rtl="0" algn="l">
              <a:spcBef>
                <a:spcPts val="0"/>
              </a:spcBef>
              <a:spcAft>
                <a:spcPts val="0"/>
              </a:spcAft>
              <a:buSzPts val="1200"/>
              <a:buChar char="●"/>
            </a:pPr>
            <a:r>
              <a:rPr lang="en"/>
              <a:t>Does the size of a movie’s budget predict if it will pass?</a:t>
            </a:r>
            <a:endParaRPr/>
          </a:p>
          <a:p>
            <a:pPr indent="-304800" lvl="0" marL="457200" rtl="0" algn="l">
              <a:spcBef>
                <a:spcPts val="0"/>
              </a:spcBef>
              <a:spcAft>
                <a:spcPts val="0"/>
              </a:spcAft>
              <a:buSzPts val="1200"/>
              <a:buChar char="●"/>
            </a:pPr>
            <a:r>
              <a:rPr lang="en"/>
              <a:t>Does passing the Bechdel test affect a movie’s profitability?</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2000">
                <a:solidFill>
                  <a:srgbClr val="000000"/>
                </a:solidFill>
              </a:rPr>
              <a:t>Do "passing" movies have more global appeal than "failing" ones?</a:t>
            </a:r>
            <a:endParaRPr sz="2000">
              <a:solidFill>
                <a:srgbClr val="000000"/>
              </a:solidFill>
            </a:endParaRPr>
          </a:p>
          <a:p>
            <a:pPr indent="0" lvl="0" marL="0" rtl="0" algn="l">
              <a:spcBef>
                <a:spcPts val="0"/>
              </a:spcBef>
              <a:spcAft>
                <a:spcPts val="0"/>
              </a:spcAft>
              <a:buNone/>
            </a:pPr>
            <a:r>
              <a:t/>
            </a:r>
            <a:endParaRPr sz="2000"/>
          </a:p>
        </p:txBody>
      </p:sp>
      <p:sp>
        <p:nvSpPr>
          <p:cNvPr id="257" name="Google Shape;257;p40"/>
          <p:cNvSpPr txBox="1"/>
          <p:nvPr>
            <p:ph idx="1" type="body"/>
          </p:nvPr>
        </p:nvSpPr>
        <p:spPr>
          <a:xfrm>
            <a:off x="3382650" y="1187600"/>
            <a:ext cx="5171400" cy="27141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
                <a:solidFill>
                  <a:srgbClr val="000000"/>
                </a:solidFill>
              </a:rPr>
              <a:t>On average, movies that fail the Bechdel test earn $222 million internationally, which is approximately $55 million more than movies that pass ($167 million). This data suggests that the highest-earning global "blockbusters" are still predominantly centered on male-driven narratives, creating a financial incentive for studios to continue producing films that do not prioritize gender-balanced dialogue.</a:t>
            </a:r>
            <a:endParaRPr>
              <a:solidFill>
                <a:srgbClr val="000000"/>
              </a:solidFill>
            </a:endParaRPr>
          </a:p>
          <a:p>
            <a:pPr indent="0" lvl="0" marL="0" rtl="0" algn="l">
              <a:spcBef>
                <a:spcPts val="0"/>
              </a:spcBef>
              <a:spcAft>
                <a:spcPts val="0"/>
              </a:spcAft>
              <a:buNone/>
            </a:pPr>
            <a:r>
              <a:t/>
            </a:r>
            <a:endParaRPr/>
          </a:p>
        </p:txBody>
      </p:sp>
      <p:pic>
        <p:nvPicPr>
          <p:cNvPr id="258" name="Google Shape;258;p40"/>
          <p:cNvPicPr preferRelativeResize="0"/>
          <p:nvPr/>
        </p:nvPicPr>
        <p:blipFill>
          <a:blip r:embed="rId3">
            <a:alphaModFix/>
          </a:blip>
          <a:stretch>
            <a:fillRect/>
          </a:stretch>
        </p:blipFill>
        <p:spPr>
          <a:xfrm>
            <a:off x="152400" y="1075050"/>
            <a:ext cx="3003502" cy="3916051"/>
          </a:xfrm>
          <a:prstGeom prst="rect">
            <a:avLst/>
          </a:prstGeom>
          <a:noFill/>
          <a:ln>
            <a:noFill/>
          </a:ln>
        </p:spPr>
      </p:pic>
      <p:pic>
        <p:nvPicPr>
          <p:cNvPr id="259" name="Google Shape;259;p40"/>
          <p:cNvPicPr preferRelativeResize="0"/>
          <p:nvPr/>
        </p:nvPicPr>
        <p:blipFill rotWithShape="1">
          <a:blip r:embed="rId4">
            <a:alphaModFix/>
          </a:blip>
          <a:srcRect b="59262" l="0" r="26205" t="0"/>
          <a:stretch/>
        </p:blipFill>
        <p:spPr>
          <a:xfrm>
            <a:off x="3339175" y="4309400"/>
            <a:ext cx="896100" cy="5004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1"/>
          <p:cNvSpPr txBox="1"/>
          <p:nvPr>
            <p:ph type="title"/>
          </p:nvPr>
        </p:nvSpPr>
        <p:spPr>
          <a:xfrm>
            <a:off x="585875" y="1283225"/>
            <a:ext cx="7838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200"/>
              <a:t>Hypotheses</a:t>
            </a:r>
            <a:endParaRPr sz="2200"/>
          </a:p>
        </p:txBody>
      </p:sp>
      <p:sp>
        <p:nvSpPr>
          <p:cNvPr id="265" name="Google Shape;265;p41"/>
          <p:cNvSpPr txBox="1"/>
          <p:nvPr>
            <p:ph idx="1" type="body"/>
          </p:nvPr>
        </p:nvSpPr>
        <p:spPr>
          <a:xfrm>
            <a:off x="652950" y="1721000"/>
            <a:ext cx="7838100" cy="17820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a:t>Are movies getting better at passing the Bechdel test?</a:t>
            </a:r>
            <a:endParaRPr/>
          </a:p>
          <a:p>
            <a:pPr indent="-304800" lvl="0" marL="457200" rtl="0" algn="l">
              <a:spcBef>
                <a:spcPts val="0"/>
              </a:spcBef>
              <a:spcAft>
                <a:spcPts val="0"/>
              </a:spcAft>
              <a:buSzPts val="1200"/>
              <a:buChar char="●"/>
            </a:pPr>
            <a:r>
              <a:rPr lang="en"/>
              <a:t>Why do movies fail the Bechdel test, and has that changed?</a:t>
            </a:r>
            <a:endParaRPr/>
          </a:p>
          <a:p>
            <a:pPr indent="-304800" lvl="0" marL="457200" rtl="0" algn="l">
              <a:spcBef>
                <a:spcPts val="0"/>
              </a:spcBef>
              <a:spcAft>
                <a:spcPts val="0"/>
              </a:spcAft>
              <a:buSzPts val="1200"/>
              <a:buChar char="●"/>
            </a:pPr>
            <a:r>
              <a:rPr lang="en"/>
              <a:t>Are movies that pass the Bechdel test becoming more “mainstream”?</a:t>
            </a:r>
            <a:endParaRPr/>
          </a:p>
          <a:p>
            <a:pPr indent="-304800" lvl="0" marL="457200" rtl="0" algn="l">
              <a:spcBef>
                <a:spcPts val="0"/>
              </a:spcBef>
              <a:spcAft>
                <a:spcPts val="0"/>
              </a:spcAft>
              <a:buSzPts val="1200"/>
              <a:buFont typeface="Nunito"/>
              <a:buChar char="●"/>
            </a:pPr>
            <a:r>
              <a:rPr b="1" lang="en"/>
              <a:t>Does the size of a movie’s budget predict if it will pass?</a:t>
            </a:r>
            <a:endParaRPr b="1"/>
          </a:p>
          <a:p>
            <a:pPr indent="-304800" lvl="0" marL="457200" rtl="0" algn="l">
              <a:spcBef>
                <a:spcPts val="0"/>
              </a:spcBef>
              <a:spcAft>
                <a:spcPts val="0"/>
              </a:spcAft>
              <a:buSzPts val="1200"/>
              <a:buChar char="●"/>
            </a:pPr>
            <a:r>
              <a:rPr lang="en"/>
              <a:t>Does passing the Bechdel test affect a movie’s profitability?</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42"/>
          <p:cNvSpPr txBox="1"/>
          <p:nvPr>
            <p:ph type="title"/>
          </p:nvPr>
        </p:nvSpPr>
        <p:spPr>
          <a:xfrm>
            <a:off x="720000" y="521225"/>
            <a:ext cx="7704000" cy="593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200"/>
              <a:t>Does the size of a movie's budget predict if it will pass?</a:t>
            </a:r>
            <a:endParaRPr sz="1300"/>
          </a:p>
        </p:txBody>
      </p:sp>
      <p:sp>
        <p:nvSpPr>
          <p:cNvPr id="271" name="Google Shape;271;p42"/>
          <p:cNvSpPr txBox="1"/>
          <p:nvPr>
            <p:ph idx="1" type="body"/>
          </p:nvPr>
        </p:nvSpPr>
        <p:spPr>
          <a:xfrm>
            <a:off x="720000" y="1139900"/>
            <a:ext cx="7704000" cy="10680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
                <a:solidFill>
                  <a:srgbClr val="000000"/>
                </a:solidFill>
              </a:rPr>
              <a:t>There is a clear "budget gap" where movies that fail the Bechdel test receive an average of $17 million more in funding than movies that pass. This data indicates that the highest-budget projects in Hollywood are less likely to prioritize gender-balanced storytelling or meet the basic requirements of the Bechdel test.</a:t>
            </a:r>
            <a:endParaRPr>
              <a:solidFill>
                <a:srgbClr val="000000"/>
              </a:solidFill>
            </a:endParaRPr>
          </a:p>
          <a:p>
            <a:pPr indent="0" lvl="0" marL="0" rtl="0" algn="just">
              <a:spcBef>
                <a:spcPts val="0"/>
              </a:spcBef>
              <a:spcAft>
                <a:spcPts val="0"/>
              </a:spcAft>
              <a:buNone/>
            </a:pPr>
            <a:r>
              <a:t/>
            </a:r>
            <a:endParaRPr/>
          </a:p>
        </p:txBody>
      </p:sp>
      <p:pic>
        <p:nvPicPr>
          <p:cNvPr id="272" name="Google Shape;272;p42"/>
          <p:cNvPicPr preferRelativeResize="0"/>
          <p:nvPr/>
        </p:nvPicPr>
        <p:blipFill>
          <a:blip r:embed="rId3">
            <a:alphaModFix/>
          </a:blip>
          <a:stretch>
            <a:fillRect/>
          </a:stretch>
        </p:blipFill>
        <p:spPr>
          <a:xfrm>
            <a:off x="231700" y="2377175"/>
            <a:ext cx="8414950" cy="1985375"/>
          </a:xfrm>
          <a:prstGeom prst="rect">
            <a:avLst/>
          </a:prstGeom>
          <a:noFill/>
          <a:ln>
            <a:noFill/>
          </a:ln>
        </p:spPr>
      </p:pic>
      <p:pic>
        <p:nvPicPr>
          <p:cNvPr id="273" name="Google Shape;273;p42"/>
          <p:cNvPicPr preferRelativeResize="0"/>
          <p:nvPr/>
        </p:nvPicPr>
        <p:blipFill>
          <a:blip r:embed="rId4">
            <a:alphaModFix/>
          </a:blip>
          <a:stretch>
            <a:fillRect/>
          </a:stretch>
        </p:blipFill>
        <p:spPr>
          <a:xfrm>
            <a:off x="1203875" y="4438750"/>
            <a:ext cx="1131525" cy="5717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3"/>
          <p:cNvSpPr/>
          <p:nvPr/>
        </p:nvSpPr>
        <p:spPr>
          <a:xfrm>
            <a:off x="159775" y="87425"/>
            <a:ext cx="4336800" cy="39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279" name="Google Shape;279;p43"/>
          <p:cNvSpPr txBox="1"/>
          <p:nvPr>
            <p:ph type="title"/>
          </p:nvPr>
        </p:nvSpPr>
        <p:spPr>
          <a:xfrm>
            <a:off x="4984000" y="292625"/>
            <a:ext cx="344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200"/>
              <a:t>How ha</a:t>
            </a:r>
            <a:r>
              <a:rPr lang="en" sz="2200"/>
              <a:t>s</a:t>
            </a:r>
            <a:r>
              <a:rPr lang="en" sz="2200"/>
              <a:t> the budget for movies that fail different criteria of the Bechdel test changed over time?</a:t>
            </a:r>
            <a:endParaRPr sz="2200"/>
          </a:p>
        </p:txBody>
      </p:sp>
      <p:sp>
        <p:nvSpPr>
          <p:cNvPr id="280" name="Google Shape;280;p43"/>
          <p:cNvSpPr txBox="1"/>
          <p:nvPr>
            <p:ph idx="1" type="body"/>
          </p:nvPr>
        </p:nvSpPr>
        <p:spPr>
          <a:xfrm>
            <a:off x="4983900" y="1797200"/>
            <a:ext cx="3698400" cy="178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general, movie budgets have increased over time, but this increase in budgets is not spread uniformly across movies that pass the Bechdel test and movies that fail different criteria of the test. Budgets for movies that pass the Bechdel test have increased steadily, while budgets for movies that fail the Bechdel test have fluctuated over time.</a:t>
            </a:r>
            <a:endParaRPr/>
          </a:p>
        </p:txBody>
      </p:sp>
      <p:pic>
        <p:nvPicPr>
          <p:cNvPr id="281" name="Google Shape;281;p43" title="1 budget vs clean test over different periods.png"/>
          <p:cNvPicPr preferRelativeResize="0"/>
          <p:nvPr/>
        </p:nvPicPr>
        <p:blipFill>
          <a:blip r:embed="rId3">
            <a:alphaModFix/>
          </a:blip>
          <a:stretch>
            <a:fillRect/>
          </a:stretch>
        </p:blipFill>
        <p:spPr>
          <a:xfrm>
            <a:off x="152400" y="447300"/>
            <a:ext cx="4336751" cy="4543800"/>
          </a:xfrm>
          <a:prstGeom prst="rect">
            <a:avLst/>
          </a:prstGeom>
          <a:noFill/>
          <a:ln>
            <a:noFill/>
          </a:ln>
        </p:spPr>
      </p:pic>
      <p:pic>
        <p:nvPicPr>
          <p:cNvPr id="282" name="Google Shape;282;p43" title="0 binary key.png"/>
          <p:cNvPicPr preferRelativeResize="0"/>
          <p:nvPr/>
        </p:nvPicPr>
        <p:blipFill>
          <a:blip r:embed="rId4">
            <a:alphaModFix/>
          </a:blip>
          <a:stretch>
            <a:fillRect/>
          </a:stretch>
        </p:blipFill>
        <p:spPr>
          <a:xfrm>
            <a:off x="4864178" y="4176601"/>
            <a:ext cx="1760950" cy="814500"/>
          </a:xfrm>
          <a:prstGeom prst="rect">
            <a:avLst/>
          </a:prstGeom>
          <a:noFill/>
          <a:ln>
            <a:noFill/>
          </a:ln>
        </p:spPr>
      </p:pic>
      <p:sp>
        <p:nvSpPr>
          <p:cNvPr id="283" name="Google Shape;283;p43"/>
          <p:cNvSpPr txBox="1"/>
          <p:nvPr/>
        </p:nvSpPr>
        <p:spPr>
          <a:xfrm>
            <a:off x="5957450" y="1343150"/>
            <a:ext cx="3198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solidFill>
                <a:schemeClr val="dk1"/>
              </a:solidFill>
              <a:latin typeface="DM Sans"/>
              <a:ea typeface="DM Sans"/>
              <a:cs typeface="DM Sans"/>
              <a:sym typeface="DM Sans"/>
            </a:endParaRPr>
          </a:p>
        </p:txBody>
      </p:sp>
      <p:sp>
        <p:nvSpPr>
          <p:cNvPr id="284" name="Google Shape;284;p43"/>
          <p:cNvSpPr txBox="1"/>
          <p:nvPr>
            <p:ph type="title"/>
          </p:nvPr>
        </p:nvSpPr>
        <p:spPr>
          <a:xfrm>
            <a:off x="274424" y="87417"/>
            <a:ext cx="4191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latin typeface="Arial"/>
                <a:ea typeface="Arial"/>
                <a:cs typeface="Arial"/>
                <a:sym typeface="Arial"/>
              </a:rPr>
              <a:t>Average Budget of Different Categories of Movies Over Time</a:t>
            </a:r>
            <a:endParaRPr sz="1100">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4"/>
          <p:cNvSpPr txBox="1"/>
          <p:nvPr>
            <p:ph type="title"/>
          </p:nvPr>
        </p:nvSpPr>
        <p:spPr>
          <a:xfrm>
            <a:off x="585875" y="1283225"/>
            <a:ext cx="7838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200"/>
              <a:t>Hypotheses</a:t>
            </a:r>
            <a:endParaRPr sz="2200"/>
          </a:p>
        </p:txBody>
      </p:sp>
      <p:sp>
        <p:nvSpPr>
          <p:cNvPr id="290" name="Google Shape;290;p44"/>
          <p:cNvSpPr txBox="1"/>
          <p:nvPr>
            <p:ph idx="1" type="body"/>
          </p:nvPr>
        </p:nvSpPr>
        <p:spPr>
          <a:xfrm>
            <a:off x="652950" y="1721000"/>
            <a:ext cx="7838100" cy="17820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a:t>Are movies getting better at passing the Bechdel test?</a:t>
            </a:r>
            <a:endParaRPr/>
          </a:p>
          <a:p>
            <a:pPr indent="-304800" lvl="0" marL="457200" rtl="0" algn="l">
              <a:spcBef>
                <a:spcPts val="0"/>
              </a:spcBef>
              <a:spcAft>
                <a:spcPts val="0"/>
              </a:spcAft>
              <a:buSzPts val="1200"/>
              <a:buChar char="●"/>
            </a:pPr>
            <a:r>
              <a:rPr lang="en"/>
              <a:t>Why do movies fail the Bechdel test, and has that changed?</a:t>
            </a:r>
            <a:endParaRPr/>
          </a:p>
          <a:p>
            <a:pPr indent="-304800" lvl="0" marL="457200" rtl="0" algn="l">
              <a:spcBef>
                <a:spcPts val="0"/>
              </a:spcBef>
              <a:spcAft>
                <a:spcPts val="0"/>
              </a:spcAft>
              <a:buSzPts val="1200"/>
              <a:buChar char="●"/>
            </a:pPr>
            <a:r>
              <a:rPr lang="en"/>
              <a:t>Are movies that pass the Bechdel test becoming more “mainstream”?</a:t>
            </a:r>
            <a:endParaRPr/>
          </a:p>
          <a:p>
            <a:pPr indent="-304800" lvl="0" marL="457200" rtl="0" algn="l">
              <a:spcBef>
                <a:spcPts val="0"/>
              </a:spcBef>
              <a:spcAft>
                <a:spcPts val="0"/>
              </a:spcAft>
              <a:buSzPts val="1200"/>
              <a:buChar char="●"/>
            </a:pPr>
            <a:r>
              <a:rPr lang="en"/>
              <a:t>Does the size of a movie’s budget predict if it will pass?</a:t>
            </a:r>
            <a:endParaRPr/>
          </a:p>
          <a:p>
            <a:pPr indent="-304800" lvl="0" marL="457200" rtl="0" algn="l">
              <a:spcBef>
                <a:spcPts val="0"/>
              </a:spcBef>
              <a:spcAft>
                <a:spcPts val="0"/>
              </a:spcAft>
              <a:buSzPts val="1200"/>
              <a:buFont typeface="Nunito"/>
              <a:buChar char="●"/>
            </a:pPr>
            <a:r>
              <a:rPr b="1" lang="en"/>
              <a:t>Does passing the Bechdel test affect a movie’s profitability?</a:t>
            </a:r>
            <a:endParaRPr b="1"/>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200"/>
              <a:t>How does financial performance differ between films that pass vs fail the Bechdel Test?</a:t>
            </a:r>
            <a:endParaRPr sz="2200"/>
          </a:p>
        </p:txBody>
      </p:sp>
      <p:sp>
        <p:nvSpPr>
          <p:cNvPr id="296" name="Google Shape;296;p45"/>
          <p:cNvSpPr txBox="1"/>
          <p:nvPr>
            <p:ph idx="1" type="body"/>
          </p:nvPr>
        </p:nvSpPr>
        <p:spPr>
          <a:xfrm>
            <a:off x="720000" y="1285025"/>
            <a:ext cx="7950000" cy="87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Although films that fail the Bechdel Test earn higher average domestic gross revenue, Bechdel-passing films have a higher median ROI. This suggests that </a:t>
            </a:r>
            <a:r>
              <a:rPr lang="en"/>
              <a:t>films</a:t>
            </a:r>
            <a:r>
              <a:rPr lang="en"/>
              <a:t> that pass the test generate stronger profit returns overall.</a:t>
            </a:r>
            <a:endParaRPr/>
          </a:p>
        </p:txBody>
      </p:sp>
      <p:pic>
        <p:nvPicPr>
          <p:cNvPr id="297" name="Google Shape;297;p45" title="Screenshot 2026-02-17 at 11.55.34 AM.png"/>
          <p:cNvPicPr preferRelativeResize="0"/>
          <p:nvPr/>
        </p:nvPicPr>
        <p:blipFill>
          <a:blip r:embed="rId3">
            <a:alphaModFix/>
          </a:blip>
          <a:stretch>
            <a:fillRect/>
          </a:stretch>
        </p:blipFill>
        <p:spPr>
          <a:xfrm>
            <a:off x="833550" y="2330725"/>
            <a:ext cx="7722906" cy="1459325"/>
          </a:xfrm>
          <a:prstGeom prst="rect">
            <a:avLst/>
          </a:prstGeom>
          <a:noFill/>
          <a:ln>
            <a:noFill/>
          </a:ln>
        </p:spPr>
      </p:pic>
      <p:pic>
        <p:nvPicPr>
          <p:cNvPr id="298" name="Google Shape;298;p45" title="Screenshot 2026-02-17 at 11.56.12 AM.png"/>
          <p:cNvPicPr preferRelativeResize="0"/>
          <p:nvPr/>
        </p:nvPicPr>
        <p:blipFill>
          <a:blip r:embed="rId4">
            <a:alphaModFix/>
          </a:blip>
          <a:stretch>
            <a:fillRect/>
          </a:stretch>
        </p:blipFill>
        <p:spPr>
          <a:xfrm>
            <a:off x="833550" y="3818650"/>
            <a:ext cx="1791125" cy="7028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6"/>
          <p:cNvSpPr txBox="1"/>
          <p:nvPr>
            <p:ph type="title"/>
          </p:nvPr>
        </p:nvSpPr>
        <p:spPr>
          <a:xfrm>
            <a:off x="557650" y="69397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200"/>
              <a:t>Do Bechdel-passing films make less international revenue?</a:t>
            </a:r>
            <a:endParaRPr sz="2200"/>
          </a:p>
        </p:txBody>
      </p:sp>
      <p:sp>
        <p:nvSpPr>
          <p:cNvPr id="304" name="Google Shape;304;p46"/>
          <p:cNvSpPr txBox="1"/>
          <p:nvPr>
            <p:ph idx="1" type="body"/>
          </p:nvPr>
        </p:nvSpPr>
        <p:spPr>
          <a:xfrm>
            <a:off x="557650" y="1266675"/>
            <a:ext cx="7950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Not a substantial amount. While films that fail the test have slightly more high grossing international blockbusters, the overall distribution of international revenue overlaps significantly between the groups.</a:t>
            </a:r>
            <a:endParaRPr/>
          </a:p>
        </p:txBody>
      </p:sp>
      <p:pic>
        <p:nvPicPr>
          <p:cNvPr id="305" name="Google Shape;305;p46" title="Screenshot 2026-02-17 at 12.22.01 PM.png"/>
          <p:cNvPicPr preferRelativeResize="0"/>
          <p:nvPr/>
        </p:nvPicPr>
        <p:blipFill>
          <a:blip r:embed="rId3">
            <a:alphaModFix/>
          </a:blip>
          <a:stretch>
            <a:fillRect/>
          </a:stretch>
        </p:blipFill>
        <p:spPr>
          <a:xfrm>
            <a:off x="557650" y="2332087"/>
            <a:ext cx="8128650" cy="1282025"/>
          </a:xfrm>
          <a:prstGeom prst="rect">
            <a:avLst/>
          </a:prstGeom>
          <a:noFill/>
          <a:ln>
            <a:noFill/>
          </a:ln>
        </p:spPr>
      </p:pic>
      <p:pic>
        <p:nvPicPr>
          <p:cNvPr id="306" name="Google Shape;306;p46" title="Screenshot 2026-02-17 at 11.56.12 AM.png"/>
          <p:cNvPicPr preferRelativeResize="0"/>
          <p:nvPr/>
        </p:nvPicPr>
        <p:blipFill>
          <a:blip r:embed="rId4">
            <a:alphaModFix/>
          </a:blip>
          <a:stretch>
            <a:fillRect/>
          </a:stretch>
        </p:blipFill>
        <p:spPr>
          <a:xfrm>
            <a:off x="557650" y="3649600"/>
            <a:ext cx="1791125" cy="7028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47"/>
          <p:cNvSpPr/>
          <p:nvPr/>
        </p:nvSpPr>
        <p:spPr>
          <a:xfrm>
            <a:off x="152400" y="94250"/>
            <a:ext cx="4737300" cy="520800"/>
          </a:xfrm>
          <a:prstGeom prst="rect">
            <a:avLst/>
          </a:prstGeom>
          <a:solidFill>
            <a:srgbClr val="FFFFFF"/>
          </a:solidFill>
          <a:ln>
            <a:noFill/>
          </a:ln>
        </p:spPr>
        <p:txBody>
          <a:bodyPr anchorCtr="0" anchor="ctr" bIns="83125" lIns="83125" spcFirstLastPara="1" rIns="83125" wrap="square" tIns="83125">
            <a:noAutofit/>
          </a:bodyPr>
          <a:lstStyle/>
          <a:p>
            <a:pPr indent="0" lvl="0" marL="0" rtl="0" algn="ctr">
              <a:spcBef>
                <a:spcPts val="0"/>
              </a:spcBef>
              <a:spcAft>
                <a:spcPts val="0"/>
              </a:spcAft>
              <a:buNone/>
            </a:pPr>
            <a:r>
              <a:t/>
            </a:r>
            <a:endParaRPr sz="1272">
              <a:solidFill>
                <a:schemeClr val="lt1"/>
              </a:solidFill>
              <a:latin typeface="DM Sans"/>
              <a:ea typeface="DM Sans"/>
              <a:cs typeface="DM Sans"/>
              <a:sym typeface="DM Sans"/>
            </a:endParaRPr>
          </a:p>
        </p:txBody>
      </p:sp>
      <p:pic>
        <p:nvPicPr>
          <p:cNvPr id="312" name="Google Shape;312;p47" title="2 dom-intl box office over time of pass-fail.png"/>
          <p:cNvPicPr preferRelativeResize="0"/>
          <p:nvPr/>
        </p:nvPicPr>
        <p:blipFill>
          <a:blip r:embed="rId3">
            <a:alphaModFix/>
          </a:blip>
          <a:stretch>
            <a:fillRect/>
          </a:stretch>
        </p:blipFill>
        <p:spPr>
          <a:xfrm>
            <a:off x="152400" y="500806"/>
            <a:ext cx="4737379" cy="3630044"/>
          </a:xfrm>
          <a:prstGeom prst="rect">
            <a:avLst/>
          </a:prstGeom>
          <a:noFill/>
          <a:ln>
            <a:noFill/>
          </a:ln>
        </p:spPr>
      </p:pic>
      <p:sp>
        <p:nvSpPr>
          <p:cNvPr id="313" name="Google Shape;313;p47"/>
          <p:cNvSpPr txBox="1"/>
          <p:nvPr>
            <p:ph type="title"/>
          </p:nvPr>
        </p:nvSpPr>
        <p:spPr>
          <a:xfrm>
            <a:off x="5219575" y="445025"/>
            <a:ext cx="3582300" cy="192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200"/>
              <a:t>How has passing the Bechdel test affected domestic and international box office revenue over time?</a:t>
            </a:r>
            <a:endParaRPr sz="2200"/>
          </a:p>
        </p:txBody>
      </p:sp>
      <p:sp>
        <p:nvSpPr>
          <p:cNvPr id="314" name="Google Shape;314;p47"/>
          <p:cNvSpPr txBox="1"/>
          <p:nvPr>
            <p:ph idx="1" type="body"/>
          </p:nvPr>
        </p:nvSpPr>
        <p:spPr>
          <a:xfrm>
            <a:off x="5249541" y="2349650"/>
            <a:ext cx="3412200" cy="178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Over time, box office revenue has generally stayed consistent between domestic and international audiences. Although movies that fail the Bechdel test generally have higher box office revenue, in more recent years, movies that pass the Bechdel test have been earning increasingly greater box office revenue.</a:t>
            </a:r>
            <a:endParaRPr/>
          </a:p>
        </p:txBody>
      </p:sp>
      <p:pic>
        <p:nvPicPr>
          <p:cNvPr id="315" name="Google Shape;315;p47" title="dom-intl box office over time of pass-fail KEY.png"/>
          <p:cNvPicPr preferRelativeResize="0"/>
          <p:nvPr/>
        </p:nvPicPr>
        <p:blipFill>
          <a:blip r:embed="rId4">
            <a:alphaModFix/>
          </a:blip>
          <a:stretch>
            <a:fillRect/>
          </a:stretch>
        </p:blipFill>
        <p:spPr>
          <a:xfrm>
            <a:off x="3266750" y="4207850"/>
            <a:ext cx="1623015" cy="814500"/>
          </a:xfrm>
          <a:prstGeom prst="rect">
            <a:avLst/>
          </a:prstGeom>
          <a:noFill/>
          <a:ln>
            <a:noFill/>
          </a:ln>
        </p:spPr>
      </p:pic>
      <p:sp>
        <p:nvSpPr>
          <p:cNvPr id="316" name="Google Shape;316;p47"/>
          <p:cNvSpPr txBox="1"/>
          <p:nvPr>
            <p:ph type="title"/>
          </p:nvPr>
        </p:nvSpPr>
        <p:spPr>
          <a:xfrm>
            <a:off x="582298" y="163525"/>
            <a:ext cx="3811200" cy="520800"/>
          </a:xfrm>
          <a:prstGeom prst="rect">
            <a:avLst/>
          </a:prstGeom>
        </p:spPr>
        <p:txBody>
          <a:bodyPr anchorCtr="0" anchor="t" bIns="83125" lIns="83125" spcFirstLastPara="1" rIns="83125" wrap="square" tIns="83125">
            <a:noAutofit/>
          </a:bodyPr>
          <a:lstStyle/>
          <a:p>
            <a:pPr indent="0" lvl="0" marL="0" rtl="0" algn="l">
              <a:spcBef>
                <a:spcPts val="0"/>
              </a:spcBef>
              <a:spcAft>
                <a:spcPts val="0"/>
              </a:spcAft>
              <a:buNone/>
            </a:pPr>
            <a:r>
              <a:rPr lang="en" sz="1000">
                <a:latin typeface="Arial"/>
                <a:ea typeface="Arial"/>
                <a:cs typeface="Arial"/>
                <a:sym typeface="Arial"/>
              </a:rPr>
              <a:t>International and Domestic Box Office Revenue Over Time</a:t>
            </a:r>
            <a:endParaRPr sz="1000">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48"/>
          <p:cNvSpPr txBox="1"/>
          <p:nvPr>
            <p:ph idx="4294967295" type="title"/>
          </p:nvPr>
        </p:nvSpPr>
        <p:spPr>
          <a:xfrm>
            <a:off x="720000" y="529975"/>
            <a:ext cx="7704000" cy="5931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000000"/>
                </a:solidFill>
              </a:rPr>
              <a:t>Does passing the Bechdel test predict box office success better than budget does?</a:t>
            </a:r>
            <a:endParaRPr sz="1900"/>
          </a:p>
        </p:txBody>
      </p:sp>
      <p:sp>
        <p:nvSpPr>
          <p:cNvPr id="322" name="Google Shape;322;p48"/>
          <p:cNvSpPr txBox="1"/>
          <p:nvPr>
            <p:ph idx="4294967295" type="body"/>
          </p:nvPr>
        </p:nvSpPr>
        <p:spPr>
          <a:xfrm>
            <a:off x="5341325" y="1015650"/>
            <a:ext cx="3127800" cy="4356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200"/>
              <a:t>Budget is the dominant predictor of box office revenue. Both PASS and FAIL films show a strong positive relationship between production budget and domestic gross, with nearly identical medians. However, PASS films trend slightly higher in returns per dollar at mid-range budgets, suggesting the Bechdel Test is not a financial liability </a:t>
            </a:r>
            <a:r>
              <a:rPr b="1" lang="en" sz="1200"/>
              <a:t>despite</a:t>
            </a:r>
            <a:r>
              <a:rPr lang="en" sz="1200"/>
              <a:t> FAIL films capturing the biggest outlier hits.</a:t>
            </a:r>
            <a:endParaRPr sz="1200"/>
          </a:p>
        </p:txBody>
      </p:sp>
      <p:sp>
        <p:nvSpPr>
          <p:cNvPr id="323" name="Google Shape;323;p48"/>
          <p:cNvSpPr txBox="1"/>
          <p:nvPr/>
        </p:nvSpPr>
        <p:spPr>
          <a:xfrm>
            <a:off x="7173075" y="4531825"/>
            <a:ext cx="13809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200">
              <a:solidFill>
                <a:schemeClr val="dk1"/>
              </a:solidFill>
              <a:latin typeface="DM Sans"/>
              <a:ea typeface="DM Sans"/>
              <a:cs typeface="DM Sans"/>
              <a:sym typeface="DM Sans"/>
            </a:endParaRPr>
          </a:p>
        </p:txBody>
      </p:sp>
      <p:pic>
        <p:nvPicPr>
          <p:cNvPr id="324" name="Google Shape;324;p48" title="Screenshot 2026-02-17 at 9.09.36 PM.png"/>
          <p:cNvPicPr preferRelativeResize="0"/>
          <p:nvPr/>
        </p:nvPicPr>
        <p:blipFill rotWithShape="1">
          <a:blip r:embed="rId3">
            <a:alphaModFix/>
          </a:blip>
          <a:srcRect b="14649" l="24350" r="24687" t="19838"/>
          <a:stretch/>
        </p:blipFill>
        <p:spPr>
          <a:xfrm>
            <a:off x="347450" y="1012350"/>
            <a:ext cx="4879749" cy="3920374"/>
          </a:xfrm>
          <a:prstGeom prst="rect">
            <a:avLst/>
          </a:prstGeom>
          <a:noFill/>
          <a:ln>
            <a:noFill/>
          </a:ln>
        </p:spPr>
      </p:pic>
      <p:sp>
        <p:nvSpPr>
          <p:cNvPr id="325" name="Google Shape;325;p48"/>
          <p:cNvSpPr txBox="1"/>
          <p:nvPr/>
        </p:nvSpPr>
        <p:spPr>
          <a:xfrm>
            <a:off x="5440250" y="3416325"/>
            <a:ext cx="3174300" cy="1516500"/>
          </a:xfrm>
          <a:prstGeom prst="rect">
            <a:avLst/>
          </a:prstGeom>
          <a:noFill/>
          <a:ln cap="flat" cmpd="sng" w="9525">
            <a:solidFill>
              <a:srgbClr val="191919"/>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chemeClr val="dk1"/>
                </a:solidFill>
                <a:latin typeface="DM Sans"/>
                <a:ea typeface="DM Sans"/>
                <a:cs typeface="DM Sans"/>
                <a:sym typeface="DM Sans"/>
              </a:rPr>
              <a:t>Data Quality:</a:t>
            </a:r>
            <a:r>
              <a:rPr lang="en" sz="900">
                <a:solidFill>
                  <a:schemeClr val="dk1"/>
                </a:solidFill>
                <a:latin typeface="DM Sans"/>
                <a:ea typeface="DM Sans"/>
                <a:cs typeface="DM Sans"/>
                <a:sym typeface="DM Sans"/>
              </a:rPr>
              <a:t> The dataset contains films where budget_2013$ or domgross_2013$ equals zero or is missing,probably due to unreported financials rather than truly zero-cost productions. I didn't remove them for the current analysis but they may compress the trend lines toward the origin and understate average returns. There's also a small number of extreme outliers in domestic gross (films earning above $800M) that can disproportionately influence the FAIL group's trend line and upper whisker.</a:t>
            </a:r>
            <a:endParaRPr sz="900">
              <a:solidFill>
                <a:schemeClr val="dk1"/>
              </a:solidFill>
              <a:latin typeface="DM Sans"/>
              <a:ea typeface="DM Sans"/>
              <a:cs typeface="DM Sans"/>
              <a:sym typeface="DM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49"/>
          <p:cNvSpPr/>
          <p:nvPr/>
        </p:nvSpPr>
        <p:spPr>
          <a:xfrm>
            <a:off x="152400" y="246650"/>
            <a:ext cx="4793400" cy="520800"/>
          </a:xfrm>
          <a:prstGeom prst="rect">
            <a:avLst/>
          </a:prstGeom>
          <a:solidFill>
            <a:srgbClr val="FFFFFF"/>
          </a:solidFill>
          <a:ln>
            <a:noFill/>
          </a:ln>
        </p:spPr>
        <p:txBody>
          <a:bodyPr anchorCtr="0" anchor="ctr" bIns="83125" lIns="83125" spcFirstLastPara="1" rIns="83125" wrap="square" tIns="83125">
            <a:noAutofit/>
          </a:bodyPr>
          <a:lstStyle/>
          <a:p>
            <a:pPr indent="0" lvl="0" marL="0" rtl="0" algn="ctr">
              <a:spcBef>
                <a:spcPts val="0"/>
              </a:spcBef>
              <a:spcAft>
                <a:spcPts val="0"/>
              </a:spcAft>
              <a:buNone/>
            </a:pPr>
            <a:r>
              <a:t/>
            </a:r>
            <a:endParaRPr sz="1272">
              <a:solidFill>
                <a:schemeClr val="lt1"/>
              </a:solidFill>
              <a:latin typeface="DM Sans"/>
              <a:ea typeface="DM Sans"/>
              <a:cs typeface="DM Sans"/>
              <a:sym typeface="DM Sans"/>
            </a:endParaRPr>
          </a:p>
        </p:txBody>
      </p:sp>
      <p:sp>
        <p:nvSpPr>
          <p:cNvPr id="331" name="Google Shape;331;p49"/>
          <p:cNvSpPr txBox="1"/>
          <p:nvPr>
            <p:ph type="title"/>
          </p:nvPr>
        </p:nvSpPr>
        <p:spPr>
          <a:xfrm>
            <a:off x="304450" y="315925"/>
            <a:ext cx="4648800" cy="520800"/>
          </a:xfrm>
          <a:prstGeom prst="rect">
            <a:avLst/>
          </a:prstGeom>
        </p:spPr>
        <p:txBody>
          <a:bodyPr anchorCtr="0" anchor="t" bIns="83125" lIns="83125" spcFirstLastPara="1" rIns="83125" wrap="square" tIns="83125">
            <a:noAutofit/>
          </a:bodyPr>
          <a:lstStyle/>
          <a:p>
            <a:pPr indent="0" lvl="0" marL="0" rtl="0" algn="l">
              <a:spcBef>
                <a:spcPts val="0"/>
              </a:spcBef>
              <a:spcAft>
                <a:spcPts val="0"/>
              </a:spcAft>
              <a:buNone/>
            </a:pPr>
            <a:r>
              <a:rPr lang="en" sz="1000">
                <a:latin typeface="Arial"/>
                <a:ea typeface="Arial"/>
                <a:cs typeface="Arial"/>
                <a:sym typeface="Arial"/>
              </a:rPr>
              <a:t>Domestic Box Office Revenue of Movies with Different Budgets Over Time</a:t>
            </a:r>
            <a:endParaRPr sz="1000">
              <a:latin typeface="Arial"/>
              <a:ea typeface="Arial"/>
              <a:cs typeface="Arial"/>
              <a:sym typeface="Arial"/>
            </a:endParaRPr>
          </a:p>
        </p:txBody>
      </p:sp>
      <p:pic>
        <p:nvPicPr>
          <p:cNvPr id="332" name="Google Shape;332;p49" title="3 dom over time and budget with pass-fail.png"/>
          <p:cNvPicPr preferRelativeResize="0"/>
          <p:nvPr/>
        </p:nvPicPr>
        <p:blipFill>
          <a:blip r:embed="rId3">
            <a:alphaModFix/>
          </a:blip>
          <a:stretch>
            <a:fillRect/>
          </a:stretch>
        </p:blipFill>
        <p:spPr>
          <a:xfrm>
            <a:off x="152400" y="657975"/>
            <a:ext cx="4793274" cy="4333126"/>
          </a:xfrm>
          <a:prstGeom prst="rect">
            <a:avLst/>
          </a:prstGeom>
          <a:noFill/>
          <a:ln>
            <a:noFill/>
          </a:ln>
        </p:spPr>
      </p:pic>
      <p:pic>
        <p:nvPicPr>
          <p:cNvPr id="333" name="Google Shape;333;p49" title="3 dom key.png"/>
          <p:cNvPicPr preferRelativeResize="0"/>
          <p:nvPr/>
        </p:nvPicPr>
        <p:blipFill rotWithShape="1">
          <a:blip r:embed="rId4">
            <a:alphaModFix/>
          </a:blip>
          <a:srcRect b="0" l="0" r="0" t="40216"/>
          <a:stretch/>
        </p:blipFill>
        <p:spPr>
          <a:xfrm>
            <a:off x="7190367" y="3827736"/>
            <a:ext cx="1538350" cy="1163375"/>
          </a:xfrm>
          <a:prstGeom prst="rect">
            <a:avLst/>
          </a:prstGeom>
          <a:noFill/>
          <a:ln>
            <a:noFill/>
          </a:ln>
        </p:spPr>
      </p:pic>
      <p:sp>
        <p:nvSpPr>
          <p:cNvPr id="334" name="Google Shape;334;p49"/>
          <p:cNvSpPr txBox="1"/>
          <p:nvPr>
            <p:ph type="title"/>
          </p:nvPr>
        </p:nvSpPr>
        <p:spPr>
          <a:xfrm>
            <a:off x="5436200" y="292625"/>
            <a:ext cx="3631500" cy="135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200"/>
              <a:t>How has budget and passing the Bechdel test affected domestic box office revenue over time?</a:t>
            </a:r>
            <a:endParaRPr sz="2200"/>
          </a:p>
        </p:txBody>
      </p:sp>
      <p:sp>
        <p:nvSpPr>
          <p:cNvPr id="335" name="Google Shape;335;p49"/>
          <p:cNvSpPr txBox="1"/>
          <p:nvPr>
            <p:ph idx="1" type="body"/>
          </p:nvPr>
        </p:nvSpPr>
        <p:spPr>
          <a:xfrm>
            <a:off x="5436125" y="1797200"/>
            <a:ext cx="3302700" cy="178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chart shows several trends: </a:t>
            </a:r>
            <a:r>
              <a:rPr lang="en"/>
              <a:t>budget and </a:t>
            </a:r>
            <a:r>
              <a:rPr lang="en"/>
              <a:t>box office revenue have increased over time across all movies, but at a greater rate for movies that pass the Bechdel test. B</a:t>
            </a:r>
            <a:r>
              <a:rPr lang="en"/>
              <a:t>ox office revenues for the majority </a:t>
            </a:r>
            <a:r>
              <a:rPr lang="en"/>
              <a:t>of “passing” movies still remain significantly lower (up to $100M) than that for movies that fail the test.</a:t>
            </a:r>
            <a:endParaRPr/>
          </a:p>
        </p:txBody>
      </p:sp>
      <p:pic>
        <p:nvPicPr>
          <p:cNvPr id="336" name="Google Shape;336;p49" title="0 binary key.png"/>
          <p:cNvPicPr preferRelativeResize="0"/>
          <p:nvPr/>
        </p:nvPicPr>
        <p:blipFill>
          <a:blip r:embed="rId5">
            <a:alphaModFix/>
          </a:blip>
          <a:stretch>
            <a:fillRect/>
          </a:stretch>
        </p:blipFill>
        <p:spPr>
          <a:xfrm>
            <a:off x="5406223" y="4176612"/>
            <a:ext cx="1760950" cy="8145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50"/>
          <p:cNvSpPr txBox="1"/>
          <p:nvPr>
            <p:ph type="title"/>
          </p:nvPr>
        </p:nvSpPr>
        <p:spPr>
          <a:xfrm>
            <a:off x="601800" y="1307100"/>
            <a:ext cx="7767000" cy="2529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4: Summary Visualization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51"/>
          <p:cNvSpPr txBox="1"/>
          <p:nvPr>
            <p:ph type="title"/>
          </p:nvPr>
        </p:nvSpPr>
        <p:spPr>
          <a:xfrm>
            <a:off x="601800" y="1459500"/>
            <a:ext cx="7767000" cy="2529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47" name="Google Shape;347;p51" title="Screenshot 2026-02-18 at 6.43.46 PM.png"/>
          <p:cNvPicPr preferRelativeResize="0"/>
          <p:nvPr/>
        </p:nvPicPr>
        <p:blipFill rotWithShape="1">
          <a:blip r:embed="rId3">
            <a:alphaModFix/>
          </a:blip>
          <a:srcRect b="7456" l="0" r="2143" t="19306"/>
          <a:stretch/>
        </p:blipFill>
        <p:spPr>
          <a:xfrm>
            <a:off x="380138" y="307169"/>
            <a:ext cx="8383724" cy="3921549"/>
          </a:xfrm>
          <a:prstGeom prst="rect">
            <a:avLst/>
          </a:prstGeom>
          <a:noFill/>
          <a:ln>
            <a:noFill/>
          </a:ln>
        </p:spPr>
      </p:pic>
      <p:sp>
        <p:nvSpPr>
          <p:cNvPr id="348" name="Google Shape;348;p51"/>
          <p:cNvSpPr txBox="1"/>
          <p:nvPr/>
        </p:nvSpPr>
        <p:spPr>
          <a:xfrm>
            <a:off x="380150" y="4343350"/>
            <a:ext cx="7817100" cy="1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Live summary </a:t>
            </a:r>
            <a:r>
              <a:rPr lang="en"/>
              <a:t>link: </a:t>
            </a:r>
            <a:r>
              <a:rPr lang="en" sz="1100" u="sng">
                <a:solidFill>
                  <a:schemeClr val="hlink"/>
                </a:solidFill>
                <a:hlinkClick r:id="rId4"/>
              </a:rPr>
              <a:t>https://us-east-1.online.tableau.com/t/gsg2141-934b90c4d5/views/deliverable/Dashboard12/f955bc98-4a8f-4847-8b6a-88275c132280/b39eb684-74fe-4ab9-9584-8584a9a6f81a</a:t>
            </a:r>
            <a:endParaRPr sz="1200">
              <a:solidFill>
                <a:schemeClr val="dk1"/>
              </a:solidFill>
              <a:latin typeface="DM Sans"/>
              <a:ea typeface="DM Sans"/>
              <a:cs typeface="DM Sans"/>
              <a:sym typeface="DM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2"/>
          <p:cNvSpPr txBox="1"/>
          <p:nvPr>
            <p:ph type="title"/>
          </p:nvPr>
        </p:nvSpPr>
        <p:spPr>
          <a:xfrm>
            <a:off x="601800" y="1307100"/>
            <a:ext cx="7767000" cy="2529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500"/>
              <a:t>Overview:</a:t>
            </a:r>
            <a:endParaRPr sz="2500"/>
          </a:p>
          <a:p>
            <a:pPr indent="0" lvl="0" marL="0" rtl="0" algn="ctr">
              <a:spcBef>
                <a:spcPts val="0"/>
              </a:spcBef>
              <a:spcAft>
                <a:spcPts val="0"/>
              </a:spcAft>
              <a:buNone/>
            </a:pPr>
            <a:r>
              <a:t/>
            </a:r>
            <a:endParaRPr sz="2500"/>
          </a:p>
          <a:p>
            <a:pPr indent="0" lvl="0" marL="0" rtl="0" algn="ctr">
              <a:spcBef>
                <a:spcPts val="0"/>
              </a:spcBef>
              <a:spcAft>
                <a:spcPts val="0"/>
              </a:spcAft>
              <a:buNone/>
            </a:pPr>
            <a:r>
              <a:rPr lang="en" sz="1700">
                <a:latin typeface="DM Sans"/>
                <a:ea typeface="DM Sans"/>
                <a:cs typeface="DM Sans"/>
                <a:sym typeface="DM Sans"/>
              </a:rPr>
              <a:t>Our dashboard tracks Hollywood's gender representation through the Bechdel Test, examining whether pass rates are improving, how failure modes have evolved, whether budget predicts passing, and whether representation affects box office revenue.</a:t>
            </a:r>
            <a:endParaRPr sz="1700">
              <a:latin typeface="DM Sans Medium"/>
              <a:ea typeface="DM Sans Medium"/>
              <a:cs typeface="DM Sans Medium"/>
              <a:sym typeface="DM Sans Medium"/>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3"/>
          <p:cNvSpPr txBox="1"/>
          <p:nvPr>
            <p:ph type="title"/>
          </p:nvPr>
        </p:nvSpPr>
        <p:spPr>
          <a:xfrm>
            <a:off x="601800" y="1307100"/>
            <a:ext cx="7767000" cy="2529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t/>
            </a:r>
            <a:endParaRPr sz="1700">
              <a:latin typeface="Playfair Display"/>
              <a:ea typeface="Playfair Display"/>
              <a:cs typeface="Playfair Display"/>
              <a:sym typeface="Playfair Display"/>
            </a:endParaRPr>
          </a:p>
          <a:p>
            <a:pPr indent="0" lvl="0" marL="0" rtl="0" algn="ctr">
              <a:spcBef>
                <a:spcPts val="0"/>
              </a:spcBef>
              <a:spcAft>
                <a:spcPts val="0"/>
              </a:spcAft>
              <a:buNone/>
            </a:pPr>
            <a:r>
              <a:rPr lang="en" sz="2500"/>
              <a:t>Surprises:</a:t>
            </a:r>
            <a:endParaRPr sz="2500"/>
          </a:p>
          <a:p>
            <a:pPr indent="0" lvl="0" marL="0" rtl="0" algn="ctr">
              <a:spcBef>
                <a:spcPts val="0"/>
              </a:spcBef>
              <a:spcAft>
                <a:spcPts val="0"/>
              </a:spcAft>
              <a:buNone/>
            </a:pPr>
            <a:r>
              <a:t/>
            </a:r>
            <a:endParaRPr sz="2500"/>
          </a:p>
          <a:p>
            <a:pPr indent="0" lvl="0" marL="0" rtl="0" algn="ctr">
              <a:spcBef>
                <a:spcPts val="0"/>
              </a:spcBef>
              <a:spcAft>
                <a:spcPts val="0"/>
              </a:spcAft>
              <a:buNone/>
            </a:pPr>
            <a:r>
              <a:rPr lang="en" sz="1700">
                <a:latin typeface="DM Sans"/>
                <a:ea typeface="DM Sans"/>
                <a:cs typeface="DM Sans"/>
                <a:sym typeface="DM Sans"/>
              </a:rPr>
              <a:t>The most surprising finding from Chart 3 is that bigger budgets correlate with worse representation which is the opposite of what you might expect from well-resourced studios. The blockbuster formula itself appears to be the structural driver of underrepresentation</a:t>
            </a:r>
            <a:r>
              <a:rPr lang="en" sz="2500">
                <a:latin typeface="DM Sans"/>
                <a:ea typeface="DM Sans"/>
                <a:cs typeface="DM Sans"/>
                <a:sym typeface="DM Sans"/>
              </a:rPr>
              <a:t>.</a:t>
            </a:r>
            <a:endParaRPr sz="1700">
              <a:latin typeface="DM Sans"/>
              <a:ea typeface="DM Sans"/>
              <a:cs typeface="DM Sans"/>
              <a:sym typeface="DM San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4"/>
          <p:cNvSpPr txBox="1"/>
          <p:nvPr>
            <p:ph type="title"/>
          </p:nvPr>
        </p:nvSpPr>
        <p:spPr>
          <a:xfrm>
            <a:off x="601800" y="1307100"/>
            <a:ext cx="7767000" cy="2529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t/>
            </a:r>
            <a:endParaRPr sz="1700">
              <a:latin typeface="Playfair Display"/>
              <a:ea typeface="Playfair Display"/>
              <a:cs typeface="Playfair Display"/>
              <a:sym typeface="Playfair Display"/>
            </a:endParaRPr>
          </a:p>
          <a:p>
            <a:pPr indent="0" lvl="0" marL="0" rtl="0" algn="ctr">
              <a:spcBef>
                <a:spcPts val="0"/>
              </a:spcBef>
              <a:spcAft>
                <a:spcPts val="0"/>
              </a:spcAft>
              <a:buNone/>
            </a:pPr>
            <a:r>
              <a:rPr lang="en" sz="2500"/>
              <a:t>Data considerations:</a:t>
            </a:r>
            <a:endParaRPr sz="2500"/>
          </a:p>
          <a:p>
            <a:pPr indent="0" lvl="0" marL="0" rtl="0" algn="ctr">
              <a:spcBef>
                <a:spcPts val="0"/>
              </a:spcBef>
              <a:spcAft>
                <a:spcPts val="0"/>
              </a:spcAft>
              <a:buNone/>
            </a:pPr>
            <a:r>
              <a:t/>
            </a:r>
            <a:endParaRPr sz="2500"/>
          </a:p>
          <a:p>
            <a:pPr indent="0" lvl="0" marL="0" rtl="0" algn="ctr">
              <a:spcBef>
                <a:spcPts val="0"/>
              </a:spcBef>
              <a:spcAft>
                <a:spcPts val="0"/>
              </a:spcAft>
              <a:buNone/>
            </a:pPr>
            <a:r>
              <a:rPr lang="en" sz="1700">
                <a:latin typeface="DM Sans"/>
                <a:ea typeface="DM Sans"/>
                <a:cs typeface="DM Sans"/>
                <a:sym typeface="DM Sans"/>
              </a:rPr>
              <a:t>Missing budget data was significant because many films especially older and smaller ones had no budget recorded, which biased Chart 3 toward larger productions. Inflation adjustment required methodological choices that affect cross-decade comparisons. The "dubious pass" category visible in Chart 2 also reflects genuine community disagreement about borderline cases, adding noise to pass/fail counts. International box office data is incomplete pre-2000, making the left side of Chart 4's lines less reliable than the right. </a:t>
            </a:r>
            <a:endParaRPr sz="1700">
              <a:latin typeface="DM Sans"/>
              <a:ea typeface="DM Sans"/>
              <a:cs typeface="DM Sans"/>
              <a:sym typeface="DM San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5"/>
          <p:cNvSpPr txBox="1"/>
          <p:nvPr>
            <p:ph type="title"/>
          </p:nvPr>
        </p:nvSpPr>
        <p:spPr>
          <a:xfrm>
            <a:off x="601800" y="1307100"/>
            <a:ext cx="7767000" cy="2529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5: Conclusion</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56"/>
          <p:cNvSpPr txBox="1"/>
          <p:nvPr>
            <p:ph type="title"/>
          </p:nvPr>
        </p:nvSpPr>
        <p:spPr>
          <a:xfrm>
            <a:off x="811600" y="1388275"/>
            <a:ext cx="7678200" cy="2529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500">
                <a:latin typeface="DM Sans"/>
                <a:ea typeface="DM Sans"/>
                <a:cs typeface="DM Sans"/>
                <a:sym typeface="DM Sans"/>
              </a:rPr>
              <a:t>Our exploration began with the hypothesis that gender representation would naturally improve over time, but our analysis revealed a more complex “High-Budget Paradox”.  While we initially found that the number of “Passes” is increasing, our </a:t>
            </a:r>
            <a:r>
              <a:rPr lang="en" sz="1500">
                <a:latin typeface="DM Sans"/>
                <a:ea typeface="DM Sans"/>
                <a:cs typeface="DM Sans"/>
                <a:sym typeface="DM Sans"/>
              </a:rPr>
              <a:t>intermediate</a:t>
            </a:r>
            <a:r>
              <a:rPr lang="en" sz="1500">
                <a:latin typeface="DM Sans"/>
                <a:ea typeface="DM Sans"/>
                <a:cs typeface="DM Sans"/>
                <a:sym typeface="DM Sans"/>
              </a:rPr>
              <a:t> findings showed that this progress is uneven; movies are earning more domestically, yet they still face a significant “International Gap” in revenue. </a:t>
            </a:r>
            <a:endParaRPr sz="1500">
              <a:latin typeface="DM Sans"/>
              <a:ea typeface="DM Sans"/>
              <a:cs typeface="DM Sans"/>
              <a:sym typeface="DM Sans"/>
            </a:endParaRPr>
          </a:p>
          <a:p>
            <a:pPr indent="0" lvl="0" marL="0" rtl="0" algn="ctr">
              <a:spcBef>
                <a:spcPts val="0"/>
              </a:spcBef>
              <a:spcAft>
                <a:spcPts val="0"/>
              </a:spcAft>
              <a:buNone/>
            </a:pPr>
            <a:r>
              <a:rPr lang="en" sz="1500">
                <a:latin typeface="DM Sans"/>
                <a:ea typeface="DM Sans"/>
                <a:cs typeface="DM Sans"/>
                <a:sym typeface="DM Sans"/>
              </a:rPr>
              <a:t>Furthermore, we discovered that the “Blockbuster Formula” itself is a major structural barrier, as studios consistently reserve their largest budgets for male-centric </a:t>
            </a:r>
            <a:r>
              <a:rPr lang="en" sz="1500">
                <a:latin typeface="DM Sans"/>
                <a:ea typeface="DM Sans"/>
                <a:cs typeface="DM Sans"/>
                <a:sym typeface="DM Sans"/>
              </a:rPr>
              <a:t>narratives</a:t>
            </a:r>
            <a:r>
              <a:rPr lang="en" sz="1500">
                <a:latin typeface="DM Sans"/>
                <a:ea typeface="DM Sans"/>
                <a:cs typeface="DM Sans"/>
                <a:sym typeface="DM Sans"/>
              </a:rPr>
              <a:t> that fail the test. </a:t>
            </a:r>
            <a:endParaRPr sz="1500">
              <a:latin typeface="DM Sans"/>
              <a:ea typeface="DM Sans"/>
              <a:cs typeface="DM Sans"/>
              <a:sym typeface="DM Sans"/>
            </a:endParaRPr>
          </a:p>
          <a:p>
            <a:pPr indent="0" lvl="0" marL="0" rtl="0" algn="ctr">
              <a:spcBef>
                <a:spcPts val="0"/>
              </a:spcBef>
              <a:spcAft>
                <a:spcPts val="0"/>
              </a:spcAft>
              <a:buNone/>
            </a:pPr>
            <a:r>
              <a:t/>
            </a:r>
            <a:endParaRPr sz="1500">
              <a:latin typeface="DM Sans"/>
              <a:ea typeface="DM Sans"/>
              <a:cs typeface="DM Sans"/>
              <a:sym typeface="DM Sans"/>
            </a:endParaRPr>
          </a:p>
          <a:p>
            <a:pPr indent="0" lvl="0" marL="0" rtl="0" algn="ctr">
              <a:spcBef>
                <a:spcPts val="0"/>
              </a:spcBef>
              <a:spcAft>
                <a:spcPts val="0"/>
              </a:spcAft>
              <a:buNone/>
            </a:pPr>
            <a:r>
              <a:rPr lang="en" sz="1500">
                <a:latin typeface="DM Sans"/>
                <a:ea typeface="DM Sans"/>
                <a:cs typeface="DM Sans"/>
                <a:sym typeface="DM Sans"/>
              </a:rPr>
              <a:t>We ultimately concluded that passing the Bechdel Test does not hurt a movie’s profitability; rather, the primary hurdle is a budget gap where studios continue to bet more </a:t>
            </a:r>
            <a:r>
              <a:rPr lang="en" sz="1500">
                <a:latin typeface="DM Sans"/>
                <a:ea typeface="DM Sans"/>
                <a:cs typeface="DM Sans"/>
                <a:sym typeface="DM Sans"/>
              </a:rPr>
              <a:t>money on stories that fail the test, despite the proven success of representative films.</a:t>
            </a:r>
            <a:endParaRPr sz="1500">
              <a:latin typeface="DM Sans"/>
              <a:ea typeface="DM Sans"/>
              <a:cs typeface="DM Sans"/>
              <a:sym typeface="DM Sans"/>
            </a:endParaRPr>
          </a:p>
        </p:txBody>
      </p:sp>
    </p:spTree>
  </p:cSld>
  <p:clrMapOvr>
    <a:masterClrMapping/>
  </p:clrMapOvr>
</p:sld>
</file>

<file path=ppt/theme/theme1.xml><?xml version="1.0" encoding="utf-8"?>
<a:theme xmlns:a="http://schemas.openxmlformats.org/drawingml/2006/main" xmlns:r="http://schemas.openxmlformats.org/officeDocument/2006/relationships" name="Formal and Professional Portfolio by Slidesgo">
  <a:themeElements>
    <a:clrScheme name="Simple Light">
      <a:dk1>
        <a:srgbClr val="333333"/>
      </a:dk1>
      <a:lt1>
        <a:srgbClr val="F7F4F1"/>
      </a:lt1>
      <a:dk2>
        <a:srgbClr val="444444"/>
      </a:dk2>
      <a:lt2>
        <a:srgbClr val="555555"/>
      </a:lt2>
      <a:accent1>
        <a:srgbClr val="666666"/>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